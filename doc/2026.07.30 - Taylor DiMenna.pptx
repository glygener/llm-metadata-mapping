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Alexandria Light"/>
      <p:regular r:id="rId38"/>
      <p:bold r:id="rId39"/>
    </p:embeddedFont>
    <p:embeddedFont>
      <p:font typeface="Alexandria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A2DF06-34B7-41AA-9005-FA95AC4A537C}">
  <a:tblStyle styleId="{BFA2DF06-34B7-41AA-9005-FA95AC4A53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lexandria-regular.fntdata"/><Relationship Id="rId20" Type="http://schemas.openxmlformats.org/officeDocument/2006/relationships/slide" Target="slides/slide14.xml"/><Relationship Id="rId41" Type="http://schemas.openxmlformats.org/officeDocument/2006/relationships/font" Target="fonts/Alexandria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AlexandriaLight-bold.fntdata"/><Relationship Id="rId16" Type="http://schemas.openxmlformats.org/officeDocument/2006/relationships/slide" Target="slides/slide10.xml"/><Relationship Id="rId38" Type="http://schemas.openxmlformats.org/officeDocument/2006/relationships/font" Target="fonts/AlexandriaLight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7470e28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7470e28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3bdf9dca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3bdf9dca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7470e28f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7470e28f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3ca20704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3ca20704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3ca20704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3ca20704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3ca20704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3ca20704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3ca20704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3ca20704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329e828f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329e828f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04618d7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04618d7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3ca207044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3ca207044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3ca207044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3ca207044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3ca207044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3ca207044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3ca207044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3ca20704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3ca207044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3ca207044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3ca20704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3ca20704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3ca20704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3ca20704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3ca20704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3ca20704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3ca207044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3ca207044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3ca207044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3ca207044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3ca207044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3ca207044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e275d42c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ee275d42c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c293d59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c293d59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3bdf9dca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3bdf9dca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3bdf9dca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3bdf9dca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3bdf9dca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3bdf9dca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a442fea6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ea442fea6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a442fea6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ea442fea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a442fea6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ea442fea6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5aded9c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f5aded9c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5aded9ce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f5aded9ce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9E9E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91828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GlyGen Biocuration Project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8137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2026 Summer Volunteership Symposium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56" name="Google Shape;56;p13"/>
          <p:cNvSpPr txBox="1"/>
          <p:nvPr>
            <p:ph idx="4294967295" type="body"/>
          </p:nvPr>
        </p:nvSpPr>
        <p:spPr>
          <a:xfrm>
            <a:off x="0" y="4116925"/>
            <a:ext cx="2741100" cy="10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POCs: Rene Ranzinger, Urnisha Bhuiyan, Sena Arpinar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57" name="Google Shape;57;p13"/>
          <p:cNvSpPr txBox="1"/>
          <p:nvPr>
            <p:ph idx="4294967295" type="body"/>
          </p:nvPr>
        </p:nvSpPr>
        <p:spPr>
          <a:xfrm>
            <a:off x="5884325" y="4686300"/>
            <a:ext cx="3259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July 30th, 10 AM - 1 PM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About Me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432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Undergraduate student at George Washington University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Major: Biology, BS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Minor: Bioinformatics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Fun fact: I have a twin sister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pic>
        <p:nvPicPr>
          <p:cNvPr id="64" name="Google Shape;64;p14" title="Barcelona Picture.jpg"/>
          <p:cNvPicPr preferRelativeResize="0"/>
          <p:nvPr/>
        </p:nvPicPr>
        <p:blipFill rotWithShape="1">
          <a:blip r:embed="rId3">
            <a:alphaModFix/>
          </a:blip>
          <a:srcRect b="29263" l="48470" r="5513" t="33630"/>
          <a:stretch/>
        </p:blipFill>
        <p:spPr>
          <a:xfrm>
            <a:off x="5309288" y="859325"/>
            <a:ext cx="2852925" cy="32582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5309325" y="4117550"/>
            <a:ext cx="285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latin typeface="Alexandria Light"/>
                <a:ea typeface="Alexandria Light"/>
                <a:cs typeface="Alexandria Light"/>
                <a:sym typeface="Alexandria Light"/>
              </a:rPr>
              <a:t>Taylor DiMenna</a:t>
            </a:r>
            <a:endParaRPr sz="2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2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40001"/>
            <a:ext cx="8520600" cy="3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C</a:t>
            </a: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ollecting information about glycans, proteins, and their interactions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Some legacy databases are discontinued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Integrating existing data into modern databases (GlyGen) is challenging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○"/>
            </a:pP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M</a:t>
            </a: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etadata is recorded in free text</a:t>
            </a:r>
            <a:endParaRPr sz="1800">
              <a:highlight>
                <a:srgbClr val="FFFF00"/>
              </a:highlight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Previous volunteers worked to manually curate this data</a:t>
            </a:r>
            <a:endParaRPr sz="18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W</a:t>
            </a: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as too time consuming</a:t>
            </a:r>
            <a:endParaRPr sz="18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LLM driven approach created to speed up this process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577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Introduction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3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Project Goals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Design an LLM prompt to curate s</a:t>
            </a: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pecies name metadata to their respective scientific name and taxonomy ID within the NCBI database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Write a python script to test this prompt with the human curated data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Match the human curated results to the LLM curated results to progressively improve the prompt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Speed up the process of data curation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4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E9E9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Workflow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5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2075"/>
            <a:ext cx="9143998" cy="373770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110100" y="2139200"/>
            <a:ext cx="2626800" cy="15729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2902075" y="3318900"/>
            <a:ext cx="4868100" cy="14472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6677100" y="1628000"/>
            <a:ext cx="2391000" cy="21312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Workflow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5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2075"/>
            <a:ext cx="9143998" cy="373770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110100" y="2799825"/>
            <a:ext cx="2626800" cy="9123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2902075" y="3318900"/>
            <a:ext cx="4868100" cy="14472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6677100" y="1628000"/>
            <a:ext cx="2391000" cy="21312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Workflow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5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2075"/>
            <a:ext cx="9143998" cy="373770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/>
          <p:nvPr/>
        </p:nvSpPr>
        <p:spPr>
          <a:xfrm>
            <a:off x="2902075" y="3318900"/>
            <a:ext cx="4868100" cy="14472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6677100" y="1628000"/>
            <a:ext cx="2391000" cy="21312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Workflow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5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2075"/>
            <a:ext cx="9143998" cy="373770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5953550" y="3444725"/>
            <a:ext cx="1816500" cy="1321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6677100" y="1628000"/>
            <a:ext cx="2391000" cy="21312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Workflow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5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2075"/>
            <a:ext cx="9143998" cy="3737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CSV File Data Format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graphicFrame>
        <p:nvGraphicFramePr>
          <p:cNvPr id="131" name="Google Shape;131;p22"/>
          <p:cNvGraphicFramePr/>
          <p:nvPr/>
        </p:nvGraphicFramePr>
        <p:xfrm>
          <a:off x="117150" y="100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584525"/>
                <a:gridCol w="567475"/>
                <a:gridCol w="1767125"/>
                <a:gridCol w="1389975"/>
                <a:gridCol w="1148275"/>
                <a:gridCol w="1798075"/>
                <a:gridCol w="664150"/>
                <a:gridCol w="989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mappingname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rank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761901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25272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Acanthocladus brasiliensis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2698660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1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25264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221047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2" name="Google Shape;132;p22"/>
          <p:cNvGraphicFramePr/>
          <p:nvPr/>
        </p:nvGraphicFramePr>
        <p:xfrm>
          <a:off x="117150" y="307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1379300"/>
                <a:gridCol w="1196450"/>
                <a:gridCol w="1879100"/>
                <a:gridCol w="1745050"/>
                <a:gridCol w="1375850"/>
                <a:gridCol w="1333825"/>
              </a:tblGrid>
              <a:tr h="44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chatgpt_name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name_match_?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ncbi_species_name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ncbi_species_name_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ncbi_taxon_id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ncbi_taxon_id_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1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Tegula turbinatum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761901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12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No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Acanthocladus brasiliensis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2698660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5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Codium laum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221047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117150" y="2815620"/>
            <a:ext cx="63876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Output CSV data (added information from LLM and Bio.Entrez Package)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117150" y="750139"/>
            <a:ext cx="11520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Input CSV data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6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/>
          <p:nvPr/>
        </p:nvSpPr>
        <p:spPr>
          <a:xfrm>
            <a:off x="39325" y="750150"/>
            <a:ext cx="8987400" cy="2065500"/>
          </a:xfrm>
          <a:prstGeom prst="rect">
            <a:avLst/>
          </a:prstGeom>
          <a:noFill/>
          <a:ln cap="flat" cmpd="sng" w="762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CSV File Data Format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graphicFrame>
        <p:nvGraphicFramePr>
          <p:cNvPr id="142" name="Google Shape;142;p23"/>
          <p:cNvGraphicFramePr/>
          <p:nvPr/>
        </p:nvGraphicFramePr>
        <p:xfrm>
          <a:off x="117150" y="100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584525"/>
                <a:gridCol w="567475"/>
                <a:gridCol w="1767125"/>
                <a:gridCol w="1389975"/>
                <a:gridCol w="1148275"/>
                <a:gridCol w="1798075"/>
                <a:gridCol w="664150"/>
                <a:gridCol w="989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mappingname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rank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761901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25272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Acanthocladus brasiliensis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2698660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1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25264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221047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3" name="Google Shape;143;p23"/>
          <p:cNvGraphicFramePr/>
          <p:nvPr/>
        </p:nvGraphicFramePr>
        <p:xfrm>
          <a:off x="117150" y="307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1379300"/>
                <a:gridCol w="1196450"/>
                <a:gridCol w="1879100"/>
                <a:gridCol w="1745050"/>
                <a:gridCol w="1375850"/>
                <a:gridCol w="1333825"/>
              </a:tblGrid>
              <a:tr h="44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chatgpt_name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name_match_?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ncbi_species_name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ncbi_species_name_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ncbi_taxon_id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ncbi_taxon_id_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1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Tegula turbinatum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761901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12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No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Acanthocladus brasiliensis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2698660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5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Codium laum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221047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117150" y="2815620"/>
            <a:ext cx="63876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Output CSV data (added information from LLM and Bio.Entrez Package)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117150" y="750139"/>
            <a:ext cx="11520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Input CSV data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6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CSV File Data Format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graphicFrame>
        <p:nvGraphicFramePr>
          <p:cNvPr id="152" name="Google Shape;152;p24"/>
          <p:cNvGraphicFramePr/>
          <p:nvPr/>
        </p:nvGraphicFramePr>
        <p:xfrm>
          <a:off x="117150" y="100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584525"/>
                <a:gridCol w="567475"/>
                <a:gridCol w="1767125"/>
                <a:gridCol w="1389975"/>
                <a:gridCol w="1148275"/>
                <a:gridCol w="1798075"/>
                <a:gridCol w="664150"/>
                <a:gridCol w="989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mappingname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rank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761901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25272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Acanthocladus brasiliensis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2698660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1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25264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221047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3" name="Google Shape;153;p24"/>
          <p:cNvGraphicFramePr/>
          <p:nvPr/>
        </p:nvGraphicFramePr>
        <p:xfrm>
          <a:off x="117150" y="307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1379300"/>
                <a:gridCol w="1196450"/>
                <a:gridCol w="1879100"/>
                <a:gridCol w="1745050"/>
                <a:gridCol w="1375850"/>
                <a:gridCol w="1333825"/>
              </a:tblGrid>
              <a:tr h="44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chatgpt_name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name_match_?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ncbi_species_name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ncbi_species_name_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ncbi_taxon_id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ncbi_taxon_id_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1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Tegula turbinatum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761901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12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No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Acanthocladus brasiliensis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2698660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5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Codium laum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221047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117150" y="2815620"/>
            <a:ext cx="63876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Output CSV data (added information from LLM and Bio.Entrez Package)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117150" y="750139"/>
            <a:ext cx="11520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Input CSV data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6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1250475" y="1004375"/>
            <a:ext cx="1824600" cy="1691700"/>
          </a:xfrm>
          <a:prstGeom prst="rect">
            <a:avLst/>
          </a:prstGeom>
          <a:noFill/>
          <a:ln cap="flat" cmpd="sng" w="762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" name="Google Shape;162;p25"/>
          <p:cNvGraphicFramePr/>
          <p:nvPr/>
        </p:nvGraphicFramePr>
        <p:xfrm>
          <a:off x="117150" y="100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584525"/>
                <a:gridCol w="567475"/>
                <a:gridCol w="1767125"/>
                <a:gridCol w="1389975"/>
                <a:gridCol w="1148275"/>
                <a:gridCol w="1798075"/>
                <a:gridCol w="664150"/>
                <a:gridCol w="989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mappingname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rank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761901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25272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Acanthocladus brasiliensis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2698660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1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25264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221047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" name="Google Shape;163;p25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CSV File Data Format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graphicFrame>
        <p:nvGraphicFramePr>
          <p:cNvPr id="164" name="Google Shape;164;p25"/>
          <p:cNvGraphicFramePr/>
          <p:nvPr/>
        </p:nvGraphicFramePr>
        <p:xfrm>
          <a:off x="117150" y="307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1379300"/>
                <a:gridCol w="1196450"/>
                <a:gridCol w="1879100"/>
                <a:gridCol w="1745050"/>
                <a:gridCol w="1375850"/>
                <a:gridCol w="1333825"/>
              </a:tblGrid>
              <a:tr h="44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chatgpt_name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name_match_?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ncbi_species_name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ncbi_species_name_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ncbi_taxon_id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ncbi_taxon_id_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1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Tegula turbinatum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761901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12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No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Acanthocladus brasiliensis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2698660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5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Codium laum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221047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117150" y="2815620"/>
            <a:ext cx="63876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Output CSV data (added information from LLM and Bio.Entrez Package)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117150" y="750139"/>
            <a:ext cx="11520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Input CSV data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6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3036275" y="1004300"/>
            <a:ext cx="2538300" cy="1691700"/>
          </a:xfrm>
          <a:prstGeom prst="rect">
            <a:avLst/>
          </a:prstGeom>
          <a:noFill/>
          <a:ln cap="flat" cmpd="sng" w="762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CSV File Data Format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graphicFrame>
        <p:nvGraphicFramePr>
          <p:cNvPr id="174" name="Google Shape;174;p26"/>
          <p:cNvGraphicFramePr/>
          <p:nvPr/>
        </p:nvGraphicFramePr>
        <p:xfrm>
          <a:off x="117150" y="100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584525"/>
                <a:gridCol w="567475"/>
                <a:gridCol w="1767125"/>
                <a:gridCol w="1389975"/>
                <a:gridCol w="1148275"/>
                <a:gridCol w="1798075"/>
                <a:gridCol w="664150"/>
                <a:gridCol w="989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mappingname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rank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761901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25272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Acanthocladus brasiliensis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2698660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1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25264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221047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5" name="Google Shape;175;p26"/>
          <p:cNvGraphicFramePr/>
          <p:nvPr/>
        </p:nvGraphicFramePr>
        <p:xfrm>
          <a:off x="117150" y="307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1379300"/>
                <a:gridCol w="1196450"/>
                <a:gridCol w="1879100"/>
                <a:gridCol w="1745050"/>
                <a:gridCol w="1375850"/>
                <a:gridCol w="1333825"/>
              </a:tblGrid>
              <a:tr h="44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chatgpt_name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name_match_?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ncbi_species_name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ncbi_species_name_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ncbi_taxon_id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ncbi_taxon_id_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1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Tegula turbinatum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761901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12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No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Acanthocladus brasiliensis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2698660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5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Codium laum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221047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117150" y="2815620"/>
            <a:ext cx="63876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Output CSV data (added information from LLM and Bio.Entrez Package)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117150" y="750139"/>
            <a:ext cx="11520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Input CSV data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6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5574525" y="1004300"/>
            <a:ext cx="1798200" cy="1691700"/>
          </a:xfrm>
          <a:prstGeom prst="rect">
            <a:avLst/>
          </a:prstGeom>
          <a:noFill/>
          <a:ln cap="flat" cmpd="sng" w="762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CSV File Data Format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graphicFrame>
        <p:nvGraphicFramePr>
          <p:cNvPr id="185" name="Google Shape;185;p27"/>
          <p:cNvGraphicFramePr/>
          <p:nvPr/>
        </p:nvGraphicFramePr>
        <p:xfrm>
          <a:off x="117150" y="100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584525"/>
                <a:gridCol w="567475"/>
                <a:gridCol w="1767125"/>
                <a:gridCol w="1389975"/>
                <a:gridCol w="1148275"/>
                <a:gridCol w="1798075"/>
                <a:gridCol w="664150"/>
                <a:gridCol w="989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mappingname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rank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761901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25272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Acanthocladus brasiliensis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2698660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1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25264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221047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6" name="Google Shape;186;p27"/>
          <p:cNvGraphicFramePr/>
          <p:nvPr/>
        </p:nvGraphicFramePr>
        <p:xfrm>
          <a:off x="117150" y="307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1379300"/>
                <a:gridCol w="1196450"/>
                <a:gridCol w="1879100"/>
                <a:gridCol w="1745050"/>
                <a:gridCol w="1375850"/>
                <a:gridCol w="1333825"/>
              </a:tblGrid>
              <a:tr h="44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chatgpt_name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name_match_?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ncbi_species_name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ncbi_species_name_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ncbi_taxon_id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ncbi_taxon_id_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1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Tegula turbinatum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761901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12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No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Acanthocladus brasiliensis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2698660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5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Codium laum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221047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117150" y="2815620"/>
            <a:ext cx="63876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Output CSV data (added information from LLM and Bio.Entrez Package)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88" name="Google Shape;188;p27"/>
          <p:cNvSpPr txBox="1"/>
          <p:nvPr>
            <p:ph idx="1" type="body"/>
          </p:nvPr>
        </p:nvSpPr>
        <p:spPr>
          <a:xfrm>
            <a:off x="117150" y="750139"/>
            <a:ext cx="11520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Input CSV data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89" name="Google Shape;189;p27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6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78300" y="2815625"/>
            <a:ext cx="8987400" cy="1966200"/>
          </a:xfrm>
          <a:prstGeom prst="rect">
            <a:avLst/>
          </a:prstGeom>
          <a:noFill/>
          <a:ln cap="flat" cmpd="sng" w="762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CSV File Data Format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graphicFrame>
        <p:nvGraphicFramePr>
          <p:cNvPr id="196" name="Google Shape;196;p28"/>
          <p:cNvGraphicFramePr/>
          <p:nvPr/>
        </p:nvGraphicFramePr>
        <p:xfrm>
          <a:off x="117150" y="100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584525"/>
                <a:gridCol w="567475"/>
                <a:gridCol w="1767125"/>
                <a:gridCol w="1389975"/>
                <a:gridCol w="1148275"/>
                <a:gridCol w="1798075"/>
                <a:gridCol w="664150"/>
                <a:gridCol w="989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mappingname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rank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761901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25272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Acanthocladus brasiliensis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2698660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1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25264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221047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7" name="Google Shape;197;p28"/>
          <p:cNvGraphicFramePr/>
          <p:nvPr/>
        </p:nvGraphicFramePr>
        <p:xfrm>
          <a:off x="117150" y="307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1379300"/>
                <a:gridCol w="1196450"/>
                <a:gridCol w="1879100"/>
                <a:gridCol w="1745050"/>
                <a:gridCol w="1375850"/>
                <a:gridCol w="1333825"/>
              </a:tblGrid>
              <a:tr h="44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chatgpt_name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name_match_?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ncbi_species_name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ncbi_species_name_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ncbi_taxon_id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ncbi_taxon_id_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1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Tegula turbinatum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761901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12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No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Acanthocladus brasiliensis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2698660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5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Codium laum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221047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117150" y="2815620"/>
            <a:ext cx="63876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Output CSV data (added information from LLM and Bio.Entrez Package)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117150" y="750139"/>
            <a:ext cx="11520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Input CSV data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6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117150" y="3090200"/>
            <a:ext cx="1379400" cy="1660800"/>
          </a:xfrm>
          <a:prstGeom prst="rect">
            <a:avLst/>
          </a:prstGeom>
          <a:noFill/>
          <a:ln cap="flat" cmpd="sng" w="762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CSV File Data Format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graphicFrame>
        <p:nvGraphicFramePr>
          <p:cNvPr id="207" name="Google Shape;207;p29"/>
          <p:cNvGraphicFramePr/>
          <p:nvPr/>
        </p:nvGraphicFramePr>
        <p:xfrm>
          <a:off x="117150" y="100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584525"/>
                <a:gridCol w="567475"/>
                <a:gridCol w="1767125"/>
                <a:gridCol w="1389975"/>
                <a:gridCol w="1148275"/>
                <a:gridCol w="1798075"/>
                <a:gridCol w="664150"/>
                <a:gridCol w="989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mappingname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rank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761901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25272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Acanthocladus brasiliensis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2698660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1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25264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221047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8" name="Google Shape;208;p29"/>
          <p:cNvGraphicFramePr/>
          <p:nvPr/>
        </p:nvGraphicFramePr>
        <p:xfrm>
          <a:off x="117150" y="307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1379300"/>
                <a:gridCol w="1196450"/>
                <a:gridCol w="1879100"/>
                <a:gridCol w="1745050"/>
                <a:gridCol w="1375850"/>
                <a:gridCol w="1333825"/>
              </a:tblGrid>
              <a:tr h="44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chatgpt_name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name_match_?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ncbi_species_name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ncbi_species_name_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ncbi_taxon_id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ncbi_taxon_id_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1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Tegula turbinatum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761901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12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No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Acanthocladus brasiliensis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2698660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5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Codium laum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221047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117150" y="2815620"/>
            <a:ext cx="63876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Output CSV data (added information from LLM and Bio.Entrez Package)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10" name="Google Shape;210;p29"/>
          <p:cNvSpPr txBox="1"/>
          <p:nvPr>
            <p:ph idx="1" type="body"/>
          </p:nvPr>
        </p:nvSpPr>
        <p:spPr>
          <a:xfrm>
            <a:off x="117150" y="750139"/>
            <a:ext cx="11520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Input CSV data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6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12" name="Google Shape;212;p29"/>
          <p:cNvSpPr/>
          <p:nvPr/>
        </p:nvSpPr>
        <p:spPr>
          <a:xfrm>
            <a:off x="117150" y="3069725"/>
            <a:ext cx="1389900" cy="492600"/>
          </a:xfrm>
          <a:prstGeom prst="rect">
            <a:avLst/>
          </a:prstGeom>
          <a:noFill/>
          <a:ln cap="flat" cmpd="sng" w="76200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9CB9C"/>
              </a:highlight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1496450" y="3074800"/>
            <a:ext cx="1196400" cy="1660800"/>
          </a:xfrm>
          <a:prstGeom prst="rect">
            <a:avLst/>
          </a:prstGeom>
          <a:noFill/>
          <a:ln cap="flat" cmpd="sng" w="762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9"/>
          <p:cNvSpPr/>
          <p:nvPr/>
        </p:nvSpPr>
        <p:spPr>
          <a:xfrm>
            <a:off x="3036275" y="998400"/>
            <a:ext cx="1389900" cy="387000"/>
          </a:xfrm>
          <a:prstGeom prst="rect">
            <a:avLst/>
          </a:prstGeom>
          <a:noFill/>
          <a:ln cap="flat" cmpd="sng" w="76200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9CB9C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CSV File Data Format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graphicFrame>
        <p:nvGraphicFramePr>
          <p:cNvPr id="220" name="Google Shape;220;p30"/>
          <p:cNvGraphicFramePr/>
          <p:nvPr/>
        </p:nvGraphicFramePr>
        <p:xfrm>
          <a:off x="117150" y="100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584525"/>
                <a:gridCol w="567475"/>
                <a:gridCol w="1767125"/>
                <a:gridCol w="1389975"/>
                <a:gridCol w="1148275"/>
                <a:gridCol w="1798075"/>
                <a:gridCol w="664150"/>
                <a:gridCol w="989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mappingname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rank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761901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25272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Acanthocladus brasiliensis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2698660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1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25264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221047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1" name="Google Shape;221;p30"/>
          <p:cNvGraphicFramePr/>
          <p:nvPr/>
        </p:nvGraphicFramePr>
        <p:xfrm>
          <a:off x="117150" y="307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1379300"/>
                <a:gridCol w="1196450"/>
                <a:gridCol w="1879100"/>
                <a:gridCol w="1745050"/>
                <a:gridCol w="1375850"/>
                <a:gridCol w="1333825"/>
              </a:tblGrid>
              <a:tr h="44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chatgpt_name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name_match_?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ncbi_species_name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ncbi_species_name_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ncbi_taxon_id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ncbi_taxon_id_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1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Tegula turbinatum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761901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12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No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Acanthocladus brasiliensis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2698660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5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Codium laum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221047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117150" y="2815620"/>
            <a:ext cx="63876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Output CSV data (added information from LLM and Bio.Entrez Package)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23" name="Google Shape;223;p30"/>
          <p:cNvSpPr txBox="1"/>
          <p:nvPr>
            <p:ph idx="1" type="body"/>
          </p:nvPr>
        </p:nvSpPr>
        <p:spPr>
          <a:xfrm>
            <a:off x="117150" y="750139"/>
            <a:ext cx="11520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Input CSV data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24" name="Google Shape;224;p30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6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25" name="Google Shape;225;p30"/>
          <p:cNvSpPr/>
          <p:nvPr/>
        </p:nvSpPr>
        <p:spPr>
          <a:xfrm>
            <a:off x="2692900" y="3074800"/>
            <a:ext cx="1879200" cy="1660800"/>
          </a:xfrm>
          <a:prstGeom prst="rect">
            <a:avLst/>
          </a:prstGeom>
          <a:noFill/>
          <a:ln cap="flat" cmpd="sng" w="762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0"/>
          <p:cNvSpPr/>
          <p:nvPr/>
        </p:nvSpPr>
        <p:spPr>
          <a:xfrm>
            <a:off x="6317050" y="3074800"/>
            <a:ext cx="1375800" cy="1660800"/>
          </a:xfrm>
          <a:prstGeom prst="rect">
            <a:avLst/>
          </a:prstGeom>
          <a:noFill/>
          <a:ln cap="flat" cmpd="sng" w="762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CSV File Data Format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graphicFrame>
        <p:nvGraphicFramePr>
          <p:cNvPr id="232" name="Google Shape;232;p31"/>
          <p:cNvGraphicFramePr/>
          <p:nvPr/>
        </p:nvGraphicFramePr>
        <p:xfrm>
          <a:off x="117150" y="100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584525"/>
                <a:gridCol w="567475"/>
                <a:gridCol w="1767125"/>
                <a:gridCol w="1389975"/>
                <a:gridCol w="1148275"/>
                <a:gridCol w="1798075"/>
                <a:gridCol w="664150"/>
                <a:gridCol w="989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mappingname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rank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761901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25272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Acanthocladus brasiliensis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2698660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1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25264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221047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33" name="Google Shape;233;p31"/>
          <p:cNvGraphicFramePr/>
          <p:nvPr/>
        </p:nvGraphicFramePr>
        <p:xfrm>
          <a:off x="117150" y="307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1379300"/>
                <a:gridCol w="1196450"/>
                <a:gridCol w="1879100"/>
                <a:gridCol w="1745050"/>
                <a:gridCol w="1375850"/>
                <a:gridCol w="1333825"/>
              </a:tblGrid>
              <a:tr h="44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chatgpt_name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name_match_?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ncbi_species_name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ncbi_species_name_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ncbi_taxon_id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ncbi_taxon_id_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1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Tegula turbinatum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761901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12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No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Acanthocladus brasiliensis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2698660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5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Codium laum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221047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34" name="Google Shape;234;p31"/>
          <p:cNvSpPr txBox="1"/>
          <p:nvPr>
            <p:ph idx="1" type="body"/>
          </p:nvPr>
        </p:nvSpPr>
        <p:spPr>
          <a:xfrm>
            <a:off x="117150" y="2815620"/>
            <a:ext cx="63876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Output CSV data (added information from LLM and Bio.Entrez Package)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35" name="Google Shape;235;p31"/>
          <p:cNvSpPr txBox="1"/>
          <p:nvPr>
            <p:ph idx="1" type="body"/>
          </p:nvPr>
        </p:nvSpPr>
        <p:spPr>
          <a:xfrm>
            <a:off x="117150" y="750139"/>
            <a:ext cx="11520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Input CSV data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36" name="Google Shape;236;p31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6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37" name="Google Shape;237;p31"/>
          <p:cNvSpPr/>
          <p:nvPr/>
        </p:nvSpPr>
        <p:spPr>
          <a:xfrm>
            <a:off x="2692900" y="3074800"/>
            <a:ext cx="1879200" cy="451200"/>
          </a:xfrm>
          <a:prstGeom prst="rect">
            <a:avLst/>
          </a:prstGeom>
          <a:noFill/>
          <a:ln cap="flat" cmpd="sng" w="76200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9CB9C"/>
              </a:highlight>
            </a:endParaRPr>
          </a:p>
        </p:txBody>
      </p:sp>
      <p:sp>
        <p:nvSpPr>
          <p:cNvPr id="238" name="Google Shape;238;p31"/>
          <p:cNvSpPr/>
          <p:nvPr/>
        </p:nvSpPr>
        <p:spPr>
          <a:xfrm>
            <a:off x="4572000" y="3074800"/>
            <a:ext cx="1745100" cy="1660800"/>
          </a:xfrm>
          <a:prstGeom prst="rect">
            <a:avLst/>
          </a:prstGeom>
          <a:noFill/>
          <a:ln cap="flat" cmpd="sng" w="762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1"/>
          <p:cNvSpPr/>
          <p:nvPr/>
        </p:nvSpPr>
        <p:spPr>
          <a:xfrm>
            <a:off x="3036275" y="998400"/>
            <a:ext cx="1389900" cy="387000"/>
          </a:xfrm>
          <a:prstGeom prst="rect">
            <a:avLst/>
          </a:prstGeom>
          <a:noFill/>
          <a:ln cap="flat" cmpd="sng" w="76200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9CB9C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CSV File Data Format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graphicFrame>
        <p:nvGraphicFramePr>
          <p:cNvPr id="245" name="Google Shape;245;p32"/>
          <p:cNvGraphicFramePr/>
          <p:nvPr/>
        </p:nvGraphicFramePr>
        <p:xfrm>
          <a:off x="117150" y="100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584525"/>
                <a:gridCol w="567475"/>
                <a:gridCol w="1767125"/>
                <a:gridCol w="1389975"/>
                <a:gridCol w="1148275"/>
                <a:gridCol w="1798075"/>
                <a:gridCol w="664150"/>
                <a:gridCol w="989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mappingname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rank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761901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25272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Acanthocladus brasiliensis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2698660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1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25264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221047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46" name="Google Shape;246;p32"/>
          <p:cNvGraphicFramePr/>
          <p:nvPr/>
        </p:nvGraphicFramePr>
        <p:xfrm>
          <a:off x="117150" y="307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1379300"/>
                <a:gridCol w="1196450"/>
                <a:gridCol w="1879100"/>
                <a:gridCol w="1745050"/>
                <a:gridCol w="1375850"/>
                <a:gridCol w="1333825"/>
              </a:tblGrid>
              <a:tr h="44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chatgpt_name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name_match_?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ncbi_species_name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ncbi_species_name_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ncbi_taxon_id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ncbi_taxon_id_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1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Tegula turbinatum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761901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12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No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Acanthocladus brasiliensis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2698660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5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Codium laum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221047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47" name="Google Shape;247;p32"/>
          <p:cNvSpPr txBox="1"/>
          <p:nvPr>
            <p:ph idx="1" type="body"/>
          </p:nvPr>
        </p:nvSpPr>
        <p:spPr>
          <a:xfrm>
            <a:off x="117150" y="2815620"/>
            <a:ext cx="63876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Output CSV data (added information from LLM and Bio.Entrez Package)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48" name="Google Shape;248;p32"/>
          <p:cNvSpPr txBox="1"/>
          <p:nvPr>
            <p:ph idx="1" type="body"/>
          </p:nvPr>
        </p:nvSpPr>
        <p:spPr>
          <a:xfrm>
            <a:off x="117150" y="750139"/>
            <a:ext cx="11520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Input CSV data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49" name="Google Shape;249;p32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6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50" name="Google Shape;250;p32"/>
          <p:cNvSpPr/>
          <p:nvPr/>
        </p:nvSpPr>
        <p:spPr>
          <a:xfrm>
            <a:off x="4422525" y="1004375"/>
            <a:ext cx="1152000" cy="387000"/>
          </a:xfrm>
          <a:prstGeom prst="rect">
            <a:avLst/>
          </a:prstGeom>
          <a:noFill/>
          <a:ln cap="flat" cmpd="sng" w="76200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9CB9C"/>
              </a:highlight>
            </a:endParaRPr>
          </a:p>
        </p:txBody>
      </p:sp>
      <p:sp>
        <p:nvSpPr>
          <p:cNvPr id="251" name="Google Shape;251;p32"/>
          <p:cNvSpPr/>
          <p:nvPr/>
        </p:nvSpPr>
        <p:spPr>
          <a:xfrm>
            <a:off x="6317050" y="3069725"/>
            <a:ext cx="1375800" cy="492600"/>
          </a:xfrm>
          <a:prstGeom prst="rect">
            <a:avLst/>
          </a:prstGeom>
          <a:noFill/>
          <a:ln cap="flat" cmpd="sng" w="76200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9CB9C"/>
              </a:highlight>
            </a:endParaRPr>
          </a:p>
        </p:txBody>
      </p:sp>
      <p:sp>
        <p:nvSpPr>
          <p:cNvPr id="252" name="Google Shape;252;p32"/>
          <p:cNvSpPr/>
          <p:nvPr/>
        </p:nvSpPr>
        <p:spPr>
          <a:xfrm>
            <a:off x="7692900" y="3074800"/>
            <a:ext cx="1333800" cy="1660800"/>
          </a:xfrm>
          <a:prstGeom prst="rect">
            <a:avLst/>
          </a:prstGeom>
          <a:noFill/>
          <a:ln cap="flat" cmpd="sng" w="762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type="title"/>
          </p:nvPr>
        </p:nvSpPr>
        <p:spPr>
          <a:xfrm>
            <a:off x="311700" y="26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CSV File Data Format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graphicFrame>
        <p:nvGraphicFramePr>
          <p:cNvPr id="258" name="Google Shape;258;p33"/>
          <p:cNvGraphicFramePr/>
          <p:nvPr/>
        </p:nvGraphicFramePr>
        <p:xfrm>
          <a:off x="117150" y="100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584525"/>
                <a:gridCol w="567475"/>
                <a:gridCol w="1767125"/>
                <a:gridCol w="1389975"/>
                <a:gridCol w="1148275"/>
                <a:gridCol w="1798075"/>
                <a:gridCol w="664150"/>
                <a:gridCol w="989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namespaceid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mappingname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rank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matchCount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761901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chlorostoma argyostoma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25272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Acanthocladus brasiliensis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2698660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  <a:tr h="21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25264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221047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species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1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59" name="Google Shape;259;p33"/>
          <p:cNvGraphicFramePr/>
          <p:nvPr/>
        </p:nvGraphicFramePr>
        <p:xfrm>
          <a:off x="117150" y="307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{BFA2DF06-34B7-41AA-9005-FA95AC4A537C}</a:tableStyleId>
              </a:tblPr>
              <a:tblGrid>
                <a:gridCol w="1379300"/>
                <a:gridCol w="1196450"/>
                <a:gridCol w="1879100"/>
                <a:gridCol w="1745050"/>
                <a:gridCol w="1375850"/>
                <a:gridCol w="1333825"/>
              </a:tblGrid>
              <a:tr h="44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chatgpt_name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name_match_?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ncbi_species_name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ncbi_species_name_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ncbi_taxon_id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ncbi_taxon_id_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match_?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1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Tegula turbinatum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Tegula turbinatum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761901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12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Polygala klotzchii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No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Acanthocladus brasiliensis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2698660</a:t>
                      </a:r>
                      <a:endParaRPr b="1" sz="1000"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5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Codium latum</a:t>
                      </a:r>
                      <a:endParaRPr sz="1000">
                        <a:solidFill>
                          <a:schemeClr val="dk1"/>
                        </a:solidFill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Codium laum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221047</a:t>
                      </a:r>
                      <a:endParaRPr b="1" sz="1000">
                        <a:solidFill>
                          <a:schemeClr val="dk1"/>
                        </a:solidFill>
                        <a:latin typeface="Alexandria"/>
                        <a:ea typeface="Alexandria"/>
                        <a:cs typeface="Alexandria"/>
                        <a:sym typeface="Alexand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lexandria Light"/>
                          <a:ea typeface="Alexandria Light"/>
                          <a:cs typeface="Alexandria Light"/>
                          <a:sym typeface="Alexandria Light"/>
                        </a:rPr>
                        <a:t>Yes</a:t>
                      </a:r>
                      <a:endParaRPr sz="1000">
                        <a:latin typeface="Alexandria Light"/>
                        <a:ea typeface="Alexandria Light"/>
                        <a:cs typeface="Alexandria Light"/>
                        <a:sym typeface="Alexandria Light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60" name="Google Shape;260;p33"/>
          <p:cNvSpPr txBox="1"/>
          <p:nvPr>
            <p:ph idx="1" type="body"/>
          </p:nvPr>
        </p:nvSpPr>
        <p:spPr>
          <a:xfrm>
            <a:off x="117150" y="2815620"/>
            <a:ext cx="63876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Output CSV data (added information from LLM and Bio.Entrez Package)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61" name="Google Shape;261;p33"/>
          <p:cNvSpPr txBox="1"/>
          <p:nvPr>
            <p:ph idx="1" type="body"/>
          </p:nvPr>
        </p:nvSpPr>
        <p:spPr>
          <a:xfrm>
            <a:off x="117150" y="750139"/>
            <a:ext cx="11520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latin typeface="Alexandria Light"/>
                <a:ea typeface="Alexandria Light"/>
                <a:cs typeface="Alexandria Light"/>
                <a:sym typeface="Alexandria Light"/>
              </a:rPr>
              <a:t>Input CSV data</a:t>
            </a:r>
            <a:endParaRPr sz="1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6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63" name="Google Shape;263;p33"/>
          <p:cNvSpPr/>
          <p:nvPr/>
        </p:nvSpPr>
        <p:spPr>
          <a:xfrm>
            <a:off x="2692900" y="3074800"/>
            <a:ext cx="6333900" cy="1660800"/>
          </a:xfrm>
          <a:prstGeom prst="rect">
            <a:avLst/>
          </a:prstGeom>
          <a:noFill/>
          <a:ln cap="flat" cmpd="sng" w="762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First Results with Problematic Dataset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69" name="Google Shape;269;p34"/>
          <p:cNvSpPr txBox="1"/>
          <p:nvPr>
            <p:ph idx="1" type="body"/>
          </p:nvPr>
        </p:nvSpPr>
        <p:spPr>
          <a:xfrm>
            <a:off x="6206700" y="1145597"/>
            <a:ext cx="29373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17</a:t>
            </a: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70" name="Google Shape;270;p34"/>
          <p:cNvSpPr txBox="1"/>
          <p:nvPr>
            <p:ph idx="1" type="body"/>
          </p:nvPr>
        </p:nvSpPr>
        <p:spPr>
          <a:xfrm>
            <a:off x="6206550" y="1836478"/>
            <a:ext cx="29373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Both species name and taxonomy ID matching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71" name="Google Shape;271;p34"/>
          <p:cNvSpPr txBox="1"/>
          <p:nvPr>
            <p:ph idx="1" type="body"/>
          </p:nvPr>
        </p:nvSpPr>
        <p:spPr>
          <a:xfrm>
            <a:off x="150" y="1145592"/>
            <a:ext cx="29373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33</a:t>
            </a: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0" y="1836493"/>
            <a:ext cx="2937300" cy="1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Only returned </a:t>
            </a: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matching namespacename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73" name="Google Shape;273;p34"/>
          <p:cNvSpPr txBox="1"/>
          <p:nvPr>
            <p:ph idx="1" type="body"/>
          </p:nvPr>
        </p:nvSpPr>
        <p:spPr>
          <a:xfrm>
            <a:off x="3179100" y="1836500"/>
            <a:ext cx="2785800" cy="1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Only returned </a:t>
            </a: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taxonomy ID matching namespaceid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74" name="Google Shape;274;p34"/>
          <p:cNvSpPr txBox="1"/>
          <p:nvPr>
            <p:ph idx="1" type="body"/>
          </p:nvPr>
        </p:nvSpPr>
        <p:spPr>
          <a:xfrm>
            <a:off x="3179100" y="1145592"/>
            <a:ext cx="27858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17</a:t>
            </a: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75" name="Google Shape;275;p34"/>
          <p:cNvSpPr txBox="1"/>
          <p:nvPr>
            <p:ph idx="1" type="body"/>
          </p:nvPr>
        </p:nvSpPr>
        <p:spPr>
          <a:xfrm>
            <a:off x="4617150" y="3105497"/>
            <a:ext cx="29373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17%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76" name="Google Shape;276;p34"/>
          <p:cNvSpPr txBox="1"/>
          <p:nvPr>
            <p:ph idx="1" type="body"/>
          </p:nvPr>
        </p:nvSpPr>
        <p:spPr>
          <a:xfrm>
            <a:off x="4617000" y="3796387"/>
            <a:ext cx="2937300" cy="10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Both species name and taxonomy ID returned, but not matching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77" name="Google Shape;277;p34"/>
          <p:cNvSpPr txBox="1"/>
          <p:nvPr>
            <p:ph idx="1" type="body"/>
          </p:nvPr>
        </p:nvSpPr>
        <p:spPr>
          <a:xfrm>
            <a:off x="1589550" y="3796400"/>
            <a:ext cx="2785800" cy="1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Returned a species name but n</a:t>
            </a: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o taxonomy ID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78" name="Google Shape;278;p34"/>
          <p:cNvSpPr txBox="1"/>
          <p:nvPr>
            <p:ph idx="1" type="body"/>
          </p:nvPr>
        </p:nvSpPr>
        <p:spPr>
          <a:xfrm>
            <a:off x="1589550" y="3105492"/>
            <a:ext cx="27858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17%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79" name="Google Shape;279;p34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7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80" name="Google Shape;280;p34"/>
          <p:cNvSpPr txBox="1"/>
          <p:nvPr>
            <p:ph type="title"/>
          </p:nvPr>
        </p:nvSpPr>
        <p:spPr>
          <a:xfrm>
            <a:off x="2048250" y="-17275"/>
            <a:ext cx="70956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lexandria Light"/>
                <a:ea typeface="Alexandria Light"/>
                <a:cs typeface="Alexandria Light"/>
                <a:sym typeface="Alexandria Light"/>
              </a:rPr>
              <a:t>Only using </a:t>
            </a:r>
            <a:r>
              <a:rPr lang="en" sz="2000">
                <a:latin typeface="Alexandria Light"/>
                <a:ea typeface="Alexandria Light"/>
                <a:cs typeface="Alexandria Light"/>
                <a:sym typeface="Alexandria Light"/>
              </a:rPr>
              <a:t>GPT-5.5</a:t>
            </a:r>
            <a:endParaRPr sz="20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81" name="Google Shape;281;p34"/>
          <p:cNvSpPr/>
          <p:nvPr/>
        </p:nvSpPr>
        <p:spPr>
          <a:xfrm>
            <a:off x="6117800" y="866750"/>
            <a:ext cx="3026100" cy="2391300"/>
          </a:xfrm>
          <a:prstGeom prst="ellipse">
            <a:avLst/>
          </a:prstGeom>
          <a:noFill/>
          <a:ln cap="flat" cmpd="sng" w="762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LLM Prompt Progression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F</a:t>
            </a: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orce LLM to return “No Match Found”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○"/>
            </a:pP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R</a:t>
            </a: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educe hallucinations/incorrect results</a:t>
            </a:r>
            <a:endParaRPr sz="18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Add correct and failure examples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○"/>
            </a:pP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Better a</a:t>
            </a: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llow the LLM to understand what results are correct</a:t>
            </a:r>
            <a:endParaRPr sz="18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Keep prompt short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○"/>
            </a:pP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Keep token costs low and LLM most productive</a:t>
            </a:r>
            <a:endParaRPr sz="18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Repeat important directions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○"/>
            </a:pP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Repeated statements helped the LLM give more accurate results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88" name="Google Shape;288;p35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8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/>
          <p:nvPr/>
        </p:nvSpPr>
        <p:spPr>
          <a:xfrm>
            <a:off x="2720425" y="3095925"/>
            <a:ext cx="5276400" cy="1946400"/>
          </a:xfrm>
          <a:prstGeom prst="ellipse">
            <a:avLst/>
          </a:prstGeom>
          <a:noFill/>
          <a:ln cap="flat" cmpd="sng" w="762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94" name="Google Shape;29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Final R</a:t>
            </a: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esults on Problematic Dataset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95" name="Google Shape;295;p36"/>
          <p:cNvSpPr txBox="1"/>
          <p:nvPr>
            <p:ph idx="1" type="body"/>
          </p:nvPr>
        </p:nvSpPr>
        <p:spPr>
          <a:xfrm>
            <a:off x="0" y="1664450"/>
            <a:ext cx="17202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GPT-5.5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96" name="Google Shape;296;p36"/>
          <p:cNvSpPr txBox="1"/>
          <p:nvPr>
            <p:ph idx="1" type="body"/>
          </p:nvPr>
        </p:nvSpPr>
        <p:spPr>
          <a:xfrm>
            <a:off x="0" y="3749550"/>
            <a:ext cx="29673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GPT-5.5 + Bio.Entrez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97" name="Google Shape;297;p36"/>
          <p:cNvSpPr txBox="1"/>
          <p:nvPr>
            <p:ph idx="1" type="body"/>
          </p:nvPr>
        </p:nvSpPr>
        <p:spPr>
          <a:xfrm>
            <a:off x="6742511" y="1317654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72.5</a:t>
            </a: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98" name="Google Shape;298;p36"/>
          <p:cNvSpPr txBox="1"/>
          <p:nvPr>
            <p:ph idx="1" type="body"/>
          </p:nvPr>
        </p:nvSpPr>
        <p:spPr>
          <a:xfrm>
            <a:off x="6742400" y="2008547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found correctly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299" name="Google Shape;299;p36"/>
          <p:cNvSpPr txBox="1"/>
          <p:nvPr>
            <p:ph idx="1" type="body"/>
          </p:nvPr>
        </p:nvSpPr>
        <p:spPr>
          <a:xfrm>
            <a:off x="1667873" y="1317650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1</a:t>
            </a: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00" name="Google Shape;300;p36"/>
          <p:cNvSpPr txBox="1"/>
          <p:nvPr>
            <p:ph idx="1" type="body"/>
          </p:nvPr>
        </p:nvSpPr>
        <p:spPr>
          <a:xfrm>
            <a:off x="1667750" y="2008549"/>
            <a:ext cx="24015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No Match Found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01" name="Google Shape;301;p36"/>
          <p:cNvSpPr txBox="1"/>
          <p:nvPr>
            <p:ph idx="1" type="body"/>
          </p:nvPr>
        </p:nvSpPr>
        <p:spPr>
          <a:xfrm>
            <a:off x="4267075" y="2008552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found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02" name="Google Shape;302;p36"/>
          <p:cNvSpPr txBox="1"/>
          <p:nvPr>
            <p:ph idx="1" type="body"/>
          </p:nvPr>
        </p:nvSpPr>
        <p:spPr>
          <a:xfrm>
            <a:off x="4267066" y="1317650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99</a:t>
            </a: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03" name="Google Shape;303;p36"/>
          <p:cNvSpPr txBox="1"/>
          <p:nvPr>
            <p:ph idx="1" type="body"/>
          </p:nvPr>
        </p:nvSpPr>
        <p:spPr>
          <a:xfrm>
            <a:off x="5442849" y="3211429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8</a:t>
            </a: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04" name="Google Shape;304;p36"/>
          <p:cNvSpPr txBox="1"/>
          <p:nvPr>
            <p:ph idx="1" type="body"/>
          </p:nvPr>
        </p:nvSpPr>
        <p:spPr>
          <a:xfrm>
            <a:off x="5442738" y="3902322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+ taxon ID incorrect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05" name="Google Shape;305;p36"/>
          <p:cNvSpPr txBox="1"/>
          <p:nvPr>
            <p:ph idx="1" type="body"/>
          </p:nvPr>
        </p:nvSpPr>
        <p:spPr>
          <a:xfrm>
            <a:off x="2967413" y="3902327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+ taxon ID correct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06" name="Google Shape;306;p36"/>
          <p:cNvSpPr txBox="1"/>
          <p:nvPr>
            <p:ph idx="1" type="body"/>
          </p:nvPr>
        </p:nvSpPr>
        <p:spPr>
          <a:xfrm>
            <a:off x="2967403" y="3211425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92</a:t>
            </a: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cxnSp>
        <p:nvCxnSpPr>
          <p:cNvPr id="307" name="Google Shape;307;p36"/>
          <p:cNvCxnSpPr>
            <a:stCxn id="301" idx="2"/>
            <a:endCxn id="306" idx="0"/>
          </p:cNvCxnSpPr>
          <p:nvPr/>
        </p:nvCxnSpPr>
        <p:spPr>
          <a:xfrm flipH="1">
            <a:off x="4106275" y="2787952"/>
            <a:ext cx="1299600" cy="4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" name="Google Shape;308;p36"/>
          <p:cNvCxnSpPr>
            <a:stCxn id="301" idx="2"/>
            <a:endCxn id="303" idx="0"/>
          </p:cNvCxnSpPr>
          <p:nvPr/>
        </p:nvCxnSpPr>
        <p:spPr>
          <a:xfrm>
            <a:off x="5405875" y="2787952"/>
            <a:ext cx="1237800" cy="4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36"/>
          <p:cNvCxnSpPr/>
          <p:nvPr/>
        </p:nvCxnSpPr>
        <p:spPr>
          <a:xfrm flipH="1" rot="10800000">
            <a:off x="6389333" y="2055475"/>
            <a:ext cx="6561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0" name="Google Shape;310;p36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9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/>
          <p:nvPr/>
        </p:nvSpPr>
        <p:spPr>
          <a:xfrm>
            <a:off x="2720425" y="3095925"/>
            <a:ext cx="5276400" cy="1946400"/>
          </a:xfrm>
          <a:prstGeom prst="ellipse">
            <a:avLst/>
          </a:prstGeom>
          <a:noFill/>
          <a:ln cap="flat" cmpd="sng" w="762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16" name="Google Shape;31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Final </a:t>
            </a: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Results on Non-Problematic Dataset</a:t>
            </a:r>
            <a:endParaRPr/>
          </a:p>
        </p:txBody>
      </p:sp>
      <p:sp>
        <p:nvSpPr>
          <p:cNvPr id="317" name="Google Shape;317;p37"/>
          <p:cNvSpPr txBox="1"/>
          <p:nvPr>
            <p:ph idx="1" type="body"/>
          </p:nvPr>
        </p:nvSpPr>
        <p:spPr>
          <a:xfrm>
            <a:off x="0" y="1664450"/>
            <a:ext cx="17202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GPT-5.5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18" name="Google Shape;318;p37"/>
          <p:cNvSpPr txBox="1"/>
          <p:nvPr>
            <p:ph idx="1" type="body"/>
          </p:nvPr>
        </p:nvSpPr>
        <p:spPr>
          <a:xfrm>
            <a:off x="0" y="3749550"/>
            <a:ext cx="29673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GPT-5.5 + Bio.Entrez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19" name="Google Shape;319;p37"/>
          <p:cNvSpPr txBox="1"/>
          <p:nvPr>
            <p:ph idx="1" type="body"/>
          </p:nvPr>
        </p:nvSpPr>
        <p:spPr>
          <a:xfrm>
            <a:off x="1667873" y="1317650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1%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20" name="Google Shape;320;p37"/>
          <p:cNvSpPr txBox="1"/>
          <p:nvPr>
            <p:ph idx="1" type="body"/>
          </p:nvPr>
        </p:nvSpPr>
        <p:spPr>
          <a:xfrm>
            <a:off x="1667750" y="2008549"/>
            <a:ext cx="24015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No Match Found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21" name="Google Shape;321;p37"/>
          <p:cNvSpPr txBox="1"/>
          <p:nvPr>
            <p:ph idx="1" type="body"/>
          </p:nvPr>
        </p:nvSpPr>
        <p:spPr>
          <a:xfrm>
            <a:off x="4267075" y="2008552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found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22" name="Google Shape;322;p37"/>
          <p:cNvSpPr txBox="1"/>
          <p:nvPr>
            <p:ph idx="1" type="body"/>
          </p:nvPr>
        </p:nvSpPr>
        <p:spPr>
          <a:xfrm>
            <a:off x="4267066" y="1317650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99%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23" name="Google Shape;323;p37"/>
          <p:cNvSpPr txBox="1"/>
          <p:nvPr>
            <p:ph idx="1" type="body"/>
          </p:nvPr>
        </p:nvSpPr>
        <p:spPr>
          <a:xfrm>
            <a:off x="5442849" y="3211429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0%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24" name="Google Shape;324;p37"/>
          <p:cNvSpPr txBox="1"/>
          <p:nvPr>
            <p:ph idx="1" type="body"/>
          </p:nvPr>
        </p:nvSpPr>
        <p:spPr>
          <a:xfrm>
            <a:off x="5442738" y="3902322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+ taxon ID incorrect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25" name="Google Shape;325;p37"/>
          <p:cNvSpPr txBox="1"/>
          <p:nvPr>
            <p:ph idx="1" type="body"/>
          </p:nvPr>
        </p:nvSpPr>
        <p:spPr>
          <a:xfrm>
            <a:off x="2967413" y="3902327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+ taxon ID correct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26" name="Google Shape;326;p37"/>
          <p:cNvSpPr txBox="1"/>
          <p:nvPr>
            <p:ph idx="1" type="body"/>
          </p:nvPr>
        </p:nvSpPr>
        <p:spPr>
          <a:xfrm>
            <a:off x="2967403" y="3211425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100%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cxnSp>
        <p:nvCxnSpPr>
          <p:cNvPr id="327" name="Google Shape;327;p37"/>
          <p:cNvCxnSpPr>
            <a:stCxn id="321" idx="2"/>
            <a:endCxn id="326" idx="0"/>
          </p:cNvCxnSpPr>
          <p:nvPr/>
        </p:nvCxnSpPr>
        <p:spPr>
          <a:xfrm flipH="1">
            <a:off x="4106275" y="2787952"/>
            <a:ext cx="1299600" cy="4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" name="Google Shape;328;p37"/>
          <p:cNvCxnSpPr>
            <a:stCxn id="321" idx="2"/>
            <a:endCxn id="323" idx="0"/>
          </p:cNvCxnSpPr>
          <p:nvPr/>
        </p:nvCxnSpPr>
        <p:spPr>
          <a:xfrm>
            <a:off x="5405875" y="2787952"/>
            <a:ext cx="1237800" cy="4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p37"/>
          <p:cNvSpPr txBox="1"/>
          <p:nvPr>
            <p:ph idx="1" type="body"/>
          </p:nvPr>
        </p:nvSpPr>
        <p:spPr>
          <a:xfrm>
            <a:off x="6742511" y="1317654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98%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30" name="Google Shape;330;p37"/>
          <p:cNvSpPr txBox="1"/>
          <p:nvPr>
            <p:ph idx="1" type="body"/>
          </p:nvPr>
        </p:nvSpPr>
        <p:spPr>
          <a:xfrm>
            <a:off x="6742400" y="2008547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found correctly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cxnSp>
        <p:nvCxnSpPr>
          <p:cNvPr id="331" name="Google Shape;331;p37"/>
          <p:cNvCxnSpPr/>
          <p:nvPr/>
        </p:nvCxnSpPr>
        <p:spPr>
          <a:xfrm flipH="1" rot="10800000">
            <a:off x="6389333" y="2055475"/>
            <a:ext cx="6561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p37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10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Contributions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38" name="Google Shape;338;p38"/>
          <p:cNvSpPr txBox="1"/>
          <p:nvPr>
            <p:ph idx="1" type="body"/>
          </p:nvPr>
        </p:nvSpPr>
        <p:spPr>
          <a:xfrm>
            <a:off x="311700" y="1152475"/>
            <a:ext cx="8520600" cy="38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Added Bio.Entrez package to pipeline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Additions to LLM prompt to return better results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Solutions to high API tokens/cost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○"/>
            </a:pP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Use GPT-4o for the duration of the project</a:t>
            </a:r>
            <a:endParaRPr sz="18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○"/>
            </a:pP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Switch to GPT-5.5 for final testing</a:t>
            </a:r>
            <a:endParaRPr sz="18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Discovered automatic/manual curation issues from past volunteers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○"/>
            </a:pP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22 rows had automatic mapping errors</a:t>
            </a:r>
            <a:endParaRPr sz="18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Was able to curate 300+ species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○"/>
            </a:pP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Couldn’t do full dataset due to costs</a:t>
            </a:r>
            <a:endParaRPr sz="18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39" name="Google Shape;339;p38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11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Challenges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45" name="Google Shape;34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No prior programing experience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OpenAI often gave unreliable species names/taxonomy IDs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○"/>
            </a:pP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Added Bio.Entrez model to workflow</a:t>
            </a:r>
            <a:endParaRPr sz="18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L</a:t>
            </a: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arge API tokens/cost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○"/>
            </a:pP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Would have been able to curate more species if costs were lower</a:t>
            </a:r>
            <a:endParaRPr sz="18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Had to skip/reschedule meetings due to POC’s having conflicts</a:t>
            </a:r>
            <a:endParaRPr sz="18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46" name="Google Shape;346;p39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12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Next Steps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52" name="Google Shape;35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About 1300 species still need to be matched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○"/>
            </a:pPr>
            <a:r>
              <a:rPr lang="en" sz="1800">
                <a:latin typeface="Alexandria Light"/>
                <a:ea typeface="Alexandria Light"/>
                <a:cs typeface="Alexandria Light"/>
                <a:sym typeface="Alexandria Light"/>
              </a:rPr>
              <a:t>Continue using GPT-5.5 with current prompt to achieve this</a:t>
            </a:r>
            <a:endParaRPr sz="18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xandria Light"/>
              <a:buChar char="●"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Accomplish similar </a:t>
            </a: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curation</a:t>
            </a: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 for cell lines, </a:t>
            </a: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tissues,</a:t>
            </a: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 and disease identification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53" name="Google Shape;353;p40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13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Acknowledgements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59" name="Google Shape;359;p41"/>
          <p:cNvSpPr txBox="1"/>
          <p:nvPr>
            <p:ph idx="1" type="body"/>
          </p:nvPr>
        </p:nvSpPr>
        <p:spPr>
          <a:xfrm>
            <a:off x="109750" y="3456300"/>
            <a:ext cx="1869900" cy="16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lexandria Light"/>
                <a:ea typeface="Alexandria Light"/>
                <a:cs typeface="Alexandria Light"/>
                <a:sym typeface="Alexandria Light"/>
              </a:rPr>
              <a:t>Raja Mazumder</a:t>
            </a:r>
            <a:endParaRPr sz="14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Alexandria Light"/>
                <a:ea typeface="Alexandria Light"/>
                <a:cs typeface="Alexandria Light"/>
                <a:sym typeface="Alexandria Light"/>
              </a:rPr>
              <a:t>George Washington University, </a:t>
            </a:r>
            <a:endParaRPr sz="14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Alexandria Light"/>
                <a:ea typeface="Alexandria Light"/>
                <a:cs typeface="Alexandria Light"/>
                <a:sym typeface="Alexandria Light"/>
              </a:rPr>
              <a:t>Washington, D.C.</a:t>
            </a:r>
            <a:endParaRPr sz="14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60" name="Google Shape;360;p41"/>
          <p:cNvSpPr txBox="1"/>
          <p:nvPr>
            <p:ph idx="1" type="body"/>
          </p:nvPr>
        </p:nvSpPr>
        <p:spPr>
          <a:xfrm>
            <a:off x="2411127" y="3456300"/>
            <a:ext cx="2058600" cy="15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lexandria Light"/>
                <a:ea typeface="Alexandria Light"/>
                <a:cs typeface="Alexandria Light"/>
                <a:sym typeface="Alexandria Light"/>
              </a:rPr>
              <a:t>Rene Ranzinger</a:t>
            </a:r>
            <a:endParaRPr sz="14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Alexandria Light"/>
                <a:ea typeface="Alexandria Light"/>
                <a:cs typeface="Alexandria Light"/>
                <a:sym typeface="Alexandria Light"/>
              </a:rPr>
              <a:t>University of Georgia, </a:t>
            </a:r>
            <a:endParaRPr sz="14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Alexandria Light"/>
                <a:ea typeface="Alexandria Light"/>
                <a:cs typeface="Alexandria Light"/>
                <a:sym typeface="Alexandria Light"/>
              </a:rPr>
              <a:t>Athens, GA</a:t>
            </a:r>
            <a:endParaRPr sz="14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61" name="Google Shape;361;p41"/>
          <p:cNvSpPr txBox="1"/>
          <p:nvPr>
            <p:ph idx="1" type="body"/>
          </p:nvPr>
        </p:nvSpPr>
        <p:spPr>
          <a:xfrm>
            <a:off x="4829950" y="3456300"/>
            <a:ext cx="1869900" cy="16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lexandria Light"/>
                <a:ea typeface="Alexandria Light"/>
                <a:cs typeface="Alexandria Light"/>
                <a:sym typeface="Alexandria Light"/>
              </a:rPr>
              <a:t>Urnisha Bhuiyan</a:t>
            </a:r>
            <a:endParaRPr sz="14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Alexandria Light"/>
                <a:ea typeface="Alexandria Light"/>
                <a:cs typeface="Alexandria Light"/>
                <a:sym typeface="Alexandria Light"/>
              </a:rPr>
              <a:t>George Washington University, </a:t>
            </a:r>
            <a:endParaRPr sz="14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Alexandria Light"/>
                <a:ea typeface="Alexandria Light"/>
                <a:cs typeface="Alexandria Light"/>
                <a:sym typeface="Alexandria Light"/>
              </a:rPr>
              <a:t>Washington, D.C.</a:t>
            </a:r>
            <a:endParaRPr sz="14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pic>
        <p:nvPicPr>
          <p:cNvPr id="362" name="Google Shape;36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50" y="1479600"/>
            <a:ext cx="1869900" cy="18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1100" y="1479600"/>
            <a:ext cx="2058650" cy="18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9950" y="1479600"/>
            <a:ext cx="1869900" cy="18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1"/>
          <p:cNvPicPr preferRelativeResize="0"/>
          <p:nvPr/>
        </p:nvPicPr>
        <p:blipFill rotWithShape="1">
          <a:blip r:embed="rId6">
            <a:alphaModFix/>
          </a:blip>
          <a:srcRect b="33164" l="9669" r="10222" t="33570"/>
          <a:stretch/>
        </p:blipFill>
        <p:spPr>
          <a:xfrm>
            <a:off x="4901175" y="160250"/>
            <a:ext cx="4123150" cy="8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1"/>
          <p:cNvSpPr txBox="1"/>
          <p:nvPr>
            <p:ph idx="1" type="body"/>
          </p:nvPr>
        </p:nvSpPr>
        <p:spPr>
          <a:xfrm>
            <a:off x="7085425" y="3456300"/>
            <a:ext cx="2058600" cy="16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lexandria Light"/>
                <a:ea typeface="Alexandria Light"/>
                <a:cs typeface="Alexandria Light"/>
                <a:sym typeface="Alexandria Light"/>
              </a:rPr>
              <a:t>Sena Arpinar</a:t>
            </a:r>
            <a:endParaRPr sz="14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Alexandria Light"/>
                <a:ea typeface="Alexandria Light"/>
                <a:cs typeface="Alexandria Light"/>
                <a:sym typeface="Alexandria Light"/>
              </a:rPr>
              <a:t>University of Georgia,</a:t>
            </a:r>
            <a:endParaRPr sz="1400"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Alexandria Light"/>
                <a:ea typeface="Alexandria Light"/>
                <a:cs typeface="Alexandria Light"/>
                <a:sym typeface="Alexandria Light"/>
              </a:rPr>
              <a:t>Athens, GA</a:t>
            </a:r>
            <a:endParaRPr sz="1400"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pic>
        <p:nvPicPr>
          <p:cNvPr id="367" name="Google Shape;367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54425" y="1479625"/>
            <a:ext cx="1869900" cy="18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1"/>
          <p:cNvSpPr txBox="1"/>
          <p:nvPr>
            <p:ph idx="1" type="body"/>
          </p:nvPr>
        </p:nvSpPr>
        <p:spPr>
          <a:xfrm>
            <a:off x="8673075" y="4690250"/>
            <a:ext cx="471000" cy="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14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Final Results on Problematic Dataset</a:t>
            </a:r>
            <a:endParaRPr>
              <a:highlight>
                <a:srgbClr val="FFFF00"/>
              </a:highlight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74" name="Google Shape;374;p42"/>
          <p:cNvSpPr txBox="1"/>
          <p:nvPr>
            <p:ph idx="1" type="body"/>
          </p:nvPr>
        </p:nvSpPr>
        <p:spPr>
          <a:xfrm>
            <a:off x="0" y="1664450"/>
            <a:ext cx="17202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GPT-4o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75" name="Google Shape;375;p42"/>
          <p:cNvSpPr txBox="1"/>
          <p:nvPr>
            <p:ph idx="1" type="body"/>
          </p:nvPr>
        </p:nvSpPr>
        <p:spPr>
          <a:xfrm>
            <a:off x="0" y="3749550"/>
            <a:ext cx="29673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GPT-4o + Bio.Entrez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76" name="Google Shape;376;p42"/>
          <p:cNvSpPr txBox="1"/>
          <p:nvPr>
            <p:ph idx="1" type="body"/>
          </p:nvPr>
        </p:nvSpPr>
        <p:spPr>
          <a:xfrm>
            <a:off x="6742511" y="1317654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61.6%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77" name="Google Shape;377;p42"/>
          <p:cNvSpPr txBox="1"/>
          <p:nvPr>
            <p:ph idx="1" type="body"/>
          </p:nvPr>
        </p:nvSpPr>
        <p:spPr>
          <a:xfrm>
            <a:off x="6742400" y="2008547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found correctly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78" name="Google Shape;378;p42"/>
          <p:cNvSpPr txBox="1"/>
          <p:nvPr>
            <p:ph idx="1" type="body"/>
          </p:nvPr>
        </p:nvSpPr>
        <p:spPr>
          <a:xfrm>
            <a:off x="1667873" y="1317650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14%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79" name="Google Shape;379;p42"/>
          <p:cNvSpPr txBox="1"/>
          <p:nvPr>
            <p:ph idx="1" type="body"/>
          </p:nvPr>
        </p:nvSpPr>
        <p:spPr>
          <a:xfrm>
            <a:off x="1667750" y="2008549"/>
            <a:ext cx="24015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No Match Found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80" name="Google Shape;380;p42"/>
          <p:cNvSpPr txBox="1"/>
          <p:nvPr>
            <p:ph idx="1" type="body"/>
          </p:nvPr>
        </p:nvSpPr>
        <p:spPr>
          <a:xfrm>
            <a:off x="4267075" y="2008552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found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81" name="Google Shape;381;p42"/>
          <p:cNvSpPr txBox="1"/>
          <p:nvPr>
            <p:ph idx="1" type="body"/>
          </p:nvPr>
        </p:nvSpPr>
        <p:spPr>
          <a:xfrm>
            <a:off x="4267066" y="1317650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86%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82" name="Google Shape;382;p42"/>
          <p:cNvSpPr txBox="1"/>
          <p:nvPr>
            <p:ph idx="1" type="body"/>
          </p:nvPr>
        </p:nvSpPr>
        <p:spPr>
          <a:xfrm>
            <a:off x="5442849" y="3211429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14%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83" name="Google Shape;383;p42"/>
          <p:cNvSpPr txBox="1"/>
          <p:nvPr>
            <p:ph idx="1" type="body"/>
          </p:nvPr>
        </p:nvSpPr>
        <p:spPr>
          <a:xfrm>
            <a:off x="5442738" y="3902322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+ taxon ID incorrect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84" name="Google Shape;384;p42"/>
          <p:cNvSpPr txBox="1"/>
          <p:nvPr>
            <p:ph idx="1" type="body"/>
          </p:nvPr>
        </p:nvSpPr>
        <p:spPr>
          <a:xfrm>
            <a:off x="2967413" y="3902327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+ taxon ID correct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85" name="Google Shape;385;p42"/>
          <p:cNvSpPr txBox="1"/>
          <p:nvPr>
            <p:ph idx="1" type="body"/>
          </p:nvPr>
        </p:nvSpPr>
        <p:spPr>
          <a:xfrm>
            <a:off x="2967403" y="3211425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86%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cxnSp>
        <p:nvCxnSpPr>
          <p:cNvPr id="386" name="Google Shape;386;p42"/>
          <p:cNvCxnSpPr>
            <a:stCxn id="380" idx="2"/>
            <a:endCxn id="385" idx="0"/>
          </p:cNvCxnSpPr>
          <p:nvPr/>
        </p:nvCxnSpPr>
        <p:spPr>
          <a:xfrm flipH="1">
            <a:off x="4106275" y="2787952"/>
            <a:ext cx="1299600" cy="4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42"/>
          <p:cNvCxnSpPr>
            <a:stCxn id="380" idx="2"/>
            <a:endCxn id="382" idx="0"/>
          </p:cNvCxnSpPr>
          <p:nvPr/>
        </p:nvCxnSpPr>
        <p:spPr>
          <a:xfrm>
            <a:off x="5405875" y="2787952"/>
            <a:ext cx="1237800" cy="4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42"/>
          <p:cNvCxnSpPr/>
          <p:nvPr/>
        </p:nvCxnSpPr>
        <p:spPr>
          <a:xfrm flipH="1" rot="10800000">
            <a:off x="6389333" y="2055475"/>
            <a:ext cx="6561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Final Results on Non-Problematic Dataset</a:t>
            </a:r>
            <a:endParaRPr>
              <a:highlight>
                <a:srgbClr val="FFFF00"/>
              </a:highlight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94" name="Google Shape;394;p43"/>
          <p:cNvSpPr txBox="1"/>
          <p:nvPr>
            <p:ph idx="1" type="body"/>
          </p:nvPr>
        </p:nvSpPr>
        <p:spPr>
          <a:xfrm>
            <a:off x="0" y="1664450"/>
            <a:ext cx="17202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GPT-4o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95" name="Google Shape;395;p43"/>
          <p:cNvSpPr txBox="1"/>
          <p:nvPr>
            <p:ph idx="1" type="body"/>
          </p:nvPr>
        </p:nvSpPr>
        <p:spPr>
          <a:xfrm>
            <a:off x="0" y="3749550"/>
            <a:ext cx="29673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GPT-4o + Bio.Entrez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96" name="Google Shape;396;p43"/>
          <p:cNvSpPr txBox="1"/>
          <p:nvPr>
            <p:ph idx="1" type="body"/>
          </p:nvPr>
        </p:nvSpPr>
        <p:spPr>
          <a:xfrm>
            <a:off x="1667873" y="1317650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14%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97" name="Google Shape;397;p43"/>
          <p:cNvSpPr txBox="1"/>
          <p:nvPr>
            <p:ph idx="1" type="body"/>
          </p:nvPr>
        </p:nvSpPr>
        <p:spPr>
          <a:xfrm>
            <a:off x="1667750" y="2008549"/>
            <a:ext cx="24015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No Match Found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98" name="Google Shape;398;p43"/>
          <p:cNvSpPr txBox="1"/>
          <p:nvPr>
            <p:ph idx="1" type="body"/>
          </p:nvPr>
        </p:nvSpPr>
        <p:spPr>
          <a:xfrm>
            <a:off x="4267075" y="2008552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found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399" name="Google Shape;399;p43"/>
          <p:cNvSpPr txBox="1"/>
          <p:nvPr>
            <p:ph idx="1" type="body"/>
          </p:nvPr>
        </p:nvSpPr>
        <p:spPr>
          <a:xfrm>
            <a:off x="4267066" y="1317650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86%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00" name="Google Shape;400;p43"/>
          <p:cNvSpPr txBox="1"/>
          <p:nvPr>
            <p:ph idx="1" type="body"/>
          </p:nvPr>
        </p:nvSpPr>
        <p:spPr>
          <a:xfrm>
            <a:off x="5442849" y="3211429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0%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01" name="Google Shape;401;p43"/>
          <p:cNvSpPr txBox="1"/>
          <p:nvPr>
            <p:ph idx="1" type="body"/>
          </p:nvPr>
        </p:nvSpPr>
        <p:spPr>
          <a:xfrm>
            <a:off x="5442738" y="3902322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+ taxon ID incorrect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402" name="Google Shape;402;p43"/>
          <p:cNvSpPr txBox="1"/>
          <p:nvPr>
            <p:ph idx="1" type="body"/>
          </p:nvPr>
        </p:nvSpPr>
        <p:spPr>
          <a:xfrm>
            <a:off x="2967413" y="3902327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+ taxon ID correct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403" name="Google Shape;403;p43"/>
          <p:cNvSpPr txBox="1"/>
          <p:nvPr>
            <p:ph idx="1" type="body"/>
          </p:nvPr>
        </p:nvSpPr>
        <p:spPr>
          <a:xfrm>
            <a:off x="2967403" y="3211425"/>
            <a:ext cx="2277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100%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cxnSp>
        <p:nvCxnSpPr>
          <p:cNvPr id="404" name="Google Shape;404;p43"/>
          <p:cNvCxnSpPr>
            <a:stCxn id="398" idx="2"/>
            <a:endCxn id="403" idx="0"/>
          </p:cNvCxnSpPr>
          <p:nvPr/>
        </p:nvCxnSpPr>
        <p:spPr>
          <a:xfrm flipH="1">
            <a:off x="4106275" y="2787952"/>
            <a:ext cx="1299600" cy="4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43"/>
          <p:cNvCxnSpPr>
            <a:stCxn id="398" idx="2"/>
            <a:endCxn id="400" idx="0"/>
          </p:cNvCxnSpPr>
          <p:nvPr/>
        </p:nvCxnSpPr>
        <p:spPr>
          <a:xfrm>
            <a:off x="5405875" y="2787952"/>
            <a:ext cx="1237800" cy="4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6742511" y="1317654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latin typeface="Alexandria"/>
                <a:ea typeface="Alexandria"/>
                <a:cs typeface="Alexandria"/>
                <a:sym typeface="Alexandria"/>
              </a:rPr>
              <a:t>98.8%</a:t>
            </a:r>
            <a:endParaRPr b="1" sz="4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07" name="Google Shape;407;p43"/>
          <p:cNvSpPr txBox="1"/>
          <p:nvPr>
            <p:ph idx="1" type="body"/>
          </p:nvPr>
        </p:nvSpPr>
        <p:spPr>
          <a:xfrm>
            <a:off x="6742400" y="2008547"/>
            <a:ext cx="24015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lexandria Light"/>
                <a:ea typeface="Alexandria Light"/>
                <a:cs typeface="Alexandria Light"/>
                <a:sym typeface="Alexandria Light"/>
              </a:rPr>
              <a:t>Species name found correctly</a:t>
            </a:r>
            <a:endParaRPr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cxnSp>
        <p:nvCxnSpPr>
          <p:cNvPr id="408" name="Google Shape;408;p43"/>
          <p:cNvCxnSpPr/>
          <p:nvPr/>
        </p:nvCxnSpPr>
        <p:spPr>
          <a:xfrm flipH="1" rot="10800000">
            <a:off x="6389333" y="2055475"/>
            <a:ext cx="6561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