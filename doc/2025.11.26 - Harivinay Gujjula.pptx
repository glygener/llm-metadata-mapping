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Figtree"/>
      <p:regular r:id="rId21"/>
      <p:bold r:id="rId22"/>
      <p:italic r:id="rId23"/>
      <p:boldItalic r:id="rId24"/>
    </p:embeddedFont>
    <p:embeddedFont>
      <p:font typeface="DM Sans Medium"/>
      <p:regular r:id="rId25"/>
      <p:bold r:id="rId26"/>
      <p:italic r:id="rId27"/>
      <p:boldItalic r:id="rId28"/>
    </p:embeddedFont>
    <p:embeddedFont>
      <p:font typeface="Jost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  <p:embeddedFont>
      <p:font typeface="DM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4.xml"/><Relationship Id="rId22" Type="http://schemas.openxmlformats.org/officeDocument/2006/relationships/font" Target="fonts/Figtree-bold.fntdata"/><Relationship Id="rId21" Type="http://schemas.openxmlformats.org/officeDocument/2006/relationships/font" Target="fonts/Figtree-regular.fntdata"/><Relationship Id="rId24" Type="http://schemas.openxmlformats.org/officeDocument/2006/relationships/font" Target="fonts/Figtree-boldItalic.fntdata"/><Relationship Id="rId23" Type="http://schemas.openxmlformats.org/officeDocument/2006/relationships/font" Target="fonts/Figtre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Medium-bold.fntdata"/><Relationship Id="rId25" Type="http://schemas.openxmlformats.org/officeDocument/2006/relationships/font" Target="fonts/DMSansMedium-regular.fntdata"/><Relationship Id="rId28" Type="http://schemas.openxmlformats.org/officeDocument/2006/relationships/font" Target="fonts/DMSansMedium-boldItalic.fntdata"/><Relationship Id="rId27" Type="http://schemas.openxmlformats.org/officeDocument/2006/relationships/font" Target="fonts/DM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Jo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ost-italic.fntdata"/><Relationship Id="rId30" Type="http://schemas.openxmlformats.org/officeDocument/2006/relationships/font" Target="fonts/Jost-bold.fntdata"/><Relationship Id="rId11" Type="http://schemas.openxmlformats.org/officeDocument/2006/relationships/slide" Target="slides/slide5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32" Type="http://schemas.openxmlformats.org/officeDocument/2006/relationships/font" Target="fonts/Jost-bold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9.xml"/><Relationship Id="rId37" Type="http://schemas.openxmlformats.org/officeDocument/2006/relationships/font" Target="fonts/DMSans-regular.fntdata"/><Relationship Id="rId14" Type="http://schemas.openxmlformats.org/officeDocument/2006/relationships/slide" Target="slides/slide8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39" Type="http://schemas.openxmlformats.org/officeDocument/2006/relationships/font" Target="fonts/DMSans-italic.fntdata"/><Relationship Id="rId16" Type="http://schemas.openxmlformats.org/officeDocument/2006/relationships/slide" Target="slides/slide10.xml"/><Relationship Id="rId38" Type="http://schemas.openxmlformats.org/officeDocument/2006/relationships/font" Target="fonts/DM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904abfc79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904abfc79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9508da8c9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9508da8c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904abfc79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904abfc79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0f8ac19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0f8ac19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4b29dc7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4b29dc7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09a1ada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09a1ada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09a1ada0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09a1ada0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9508da8c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9508da8c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641318ca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641318ca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641318ca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641318ca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9508da8c9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9508da8c9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9508da8c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9508da8c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9508da8c9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9508da8c9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9508da8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9508da8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7" name="Google Shape;207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4" name="Google Shape;214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3" name="Google Shape;223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3" name="Google Shape;253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4" name="Google Shape;254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type="ctrTitle"/>
          </p:nvPr>
        </p:nvSpPr>
        <p:spPr>
          <a:xfrm>
            <a:off x="197375" y="107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Glygen LLM Biocuration </a:t>
            </a:r>
            <a:endParaRPr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Project</a:t>
            </a:r>
            <a:endParaRPr sz="5500"/>
          </a:p>
        </p:txBody>
      </p:sp>
      <p:sp>
        <p:nvSpPr>
          <p:cNvPr id="264" name="Google Shape;264;p44"/>
          <p:cNvSpPr txBox="1"/>
          <p:nvPr>
            <p:ph idx="2" type="subTitle"/>
          </p:nvPr>
        </p:nvSpPr>
        <p:spPr>
          <a:xfrm>
            <a:off x="197375" y="3568175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Fall Volunteership Symposium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 26th,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4"/>
          <p:cNvSpPr/>
          <p:nvPr/>
        </p:nvSpPr>
        <p:spPr>
          <a:xfrm rot="1292292">
            <a:off x="5962683" y="2460316"/>
            <a:ext cx="2279899" cy="2228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4"/>
          <p:cNvSpPr/>
          <p:nvPr/>
        </p:nvSpPr>
        <p:spPr>
          <a:xfrm rot="1292292">
            <a:off x="6191283" y="2155516"/>
            <a:ext cx="2279899" cy="2228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4"/>
          <p:cNvSpPr/>
          <p:nvPr/>
        </p:nvSpPr>
        <p:spPr>
          <a:xfrm rot="1292200">
            <a:off x="5770143" y="2771929"/>
            <a:ext cx="2242462" cy="2228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4"/>
          <p:cNvSpPr/>
          <p:nvPr/>
        </p:nvSpPr>
        <p:spPr>
          <a:xfrm rot="-3104537">
            <a:off x="8244981" y="2298778"/>
            <a:ext cx="787791" cy="2012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/>
          <p:nvPr/>
        </p:nvSpPr>
        <p:spPr>
          <a:xfrm rot="-3200848">
            <a:off x="5234432" y="2669014"/>
            <a:ext cx="806586" cy="2125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4"/>
          <p:cNvSpPr/>
          <p:nvPr/>
        </p:nvSpPr>
        <p:spPr>
          <a:xfrm rot="2303432">
            <a:off x="5290114" y="2969859"/>
            <a:ext cx="219317" cy="24213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 rot="2304814">
            <a:off x="8301984" y="2579306"/>
            <a:ext cx="207135" cy="22568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4"/>
          <p:cNvSpPr/>
          <p:nvPr/>
        </p:nvSpPr>
        <p:spPr>
          <a:xfrm rot="1461031">
            <a:off x="7842809" y="3185785"/>
            <a:ext cx="197906" cy="22313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/>
          <p:nvPr/>
        </p:nvSpPr>
        <p:spPr>
          <a:xfrm rot="1462808">
            <a:off x="8061560" y="2876156"/>
            <a:ext cx="200587" cy="22568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4"/>
          <p:cNvSpPr/>
          <p:nvPr/>
        </p:nvSpPr>
        <p:spPr>
          <a:xfrm rot="1461031">
            <a:off x="5934659" y="2037110"/>
            <a:ext cx="197906" cy="22313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4"/>
          <p:cNvSpPr/>
          <p:nvPr/>
        </p:nvSpPr>
        <p:spPr>
          <a:xfrm rot="1461031">
            <a:off x="6159384" y="1730960"/>
            <a:ext cx="197906" cy="22313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4"/>
          <p:cNvSpPr/>
          <p:nvPr/>
        </p:nvSpPr>
        <p:spPr>
          <a:xfrm rot="1770275">
            <a:off x="8777134" y="1988200"/>
            <a:ext cx="204064" cy="21172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4"/>
          <p:cNvSpPr/>
          <p:nvPr/>
        </p:nvSpPr>
        <p:spPr>
          <a:xfrm rot="1462588">
            <a:off x="5757494" y="2361065"/>
            <a:ext cx="189712" cy="21387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</a:rPr>
              <a:t>‹#›</a:t>
            </a:fld>
            <a:endParaRPr sz="800">
              <a:solidFill>
                <a:schemeClr val="dk1"/>
              </a:solidFill>
            </a:endParaRPr>
          </a:p>
        </p:txBody>
      </p:sp>
      <p:sp>
        <p:nvSpPr>
          <p:cNvPr id="284" name="Google Shape;284;p45"/>
          <p:cNvSpPr txBox="1"/>
          <p:nvPr/>
        </p:nvSpPr>
        <p:spPr>
          <a:xfrm>
            <a:off x="396417" y="4009375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Harivinay P Gujjula</a:t>
            </a:r>
            <a:endParaRPr b="1"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5" name="Google Shape;285;p45"/>
          <p:cNvSpPr txBox="1"/>
          <p:nvPr/>
        </p:nvSpPr>
        <p:spPr>
          <a:xfrm>
            <a:off x="396417" y="4222675"/>
            <a:ext cx="26718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Glygen Volunteer</a:t>
            </a:r>
            <a:endParaRPr b="1"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00" y="707525"/>
            <a:ext cx="3003500" cy="3184274"/>
          </a:xfrm>
          <a:prstGeom prst="rect">
            <a:avLst/>
          </a:prstGeom>
          <a:noFill/>
          <a:ln cap="flat" cmpd="sng" w="28575">
            <a:solidFill>
              <a:srgbClr val="47608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p45"/>
          <p:cNvSpPr txBox="1"/>
          <p:nvPr/>
        </p:nvSpPr>
        <p:spPr>
          <a:xfrm>
            <a:off x="4233375" y="1585353"/>
            <a:ext cx="407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MS. Bioinformatics and molecular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biochemistry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student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at GWU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45"/>
          <p:cNvSpPr txBox="1"/>
          <p:nvPr/>
        </p:nvSpPr>
        <p:spPr>
          <a:xfrm>
            <a:off x="4233375" y="2504750"/>
            <a:ext cx="407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Fun fact about me: I love college football more than NFL.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idx="1" type="subTitle"/>
          </p:nvPr>
        </p:nvSpPr>
        <p:spPr>
          <a:xfrm>
            <a:off x="473500" y="1462600"/>
            <a:ext cx="7521900" cy="23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To mimic manual curation done to </a:t>
            </a:r>
            <a:r>
              <a:rPr lang="en" sz="2500">
                <a:solidFill>
                  <a:schemeClr val="dk1"/>
                </a:solidFill>
              </a:rPr>
              <a:t>match scientific terms and publications with dictionaries or other digital identifiers (such as NCBI taxonomy, Pubmed IDs, DOIs) by creating a prompt for LLMs. 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94" name="Google Shape;294;p46"/>
          <p:cNvSpPr txBox="1"/>
          <p:nvPr>
            <p:ph idx="2" type="body"/>
          </p:nvPr>
        </p:nvSpPr>
        <p:spPr>
          <a:xfrm>
            <a:off x="473500" y="982900"/>
            <a:ext cx="22029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PROJECT GOAL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95" name="Google Shape;29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type="title"/>
          </p:nvPr>
        </p:nvSpPr>
        <p:spPr>
          <a:xfrm>
            <a:off x="197375" y="2239500"/>
            <a:ext cx="3151800" cy="6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301" name="Google Shape;301;p47"/>
          <p:cNvSpPr/>
          <p:nvPr/>
        </p:nvSpPr>
        <p:spPr>
          <a:xfrm>
            <a:off x="4704500" y="940300"/>
            <a:ext cx="1933500" cy="69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Reading and writing CSV files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7"/>
          <p:cNvSpPr/>
          <p:nvPr/>
        </p:nvSpPr>
        <p:spPr>
          <a:xfrm>
            <a:off x="7013125" y="940300"/>
            <a:ext cx="1933500" cy="69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Writing a prompt to 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match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 species names to NCBI taxonomy using OpenAI with a JSON output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7"/>
          <p:cNvSpPr/>
          <p:nvPr/>
        </p:nvSpPr>
        <p:spPr>
          <a:xfrm>
            <a:off x="5857700" y="2222850"/>
            <a:ext cx="1933500" cy="69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Writing a script to use prompt to generate a JSON output, parse it and extract into CSV file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7"/>
          <p:cNvSpPr/>
          <p:nvPr/>
        </p:nvSpPr>
        <p:spPr>
          <a:xfrm>
            <a:off x="5857700" y="3248000"/>
            <a:ext cx="1933500" cy="69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Compare match to manually curated data for accuracy and modify prompt for improvement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5" name="Google Shape;305;p47"/>
          <p:cNvCxnSpPr>
            <a:stCxn id="301" idx="2"/>
            <a:endCxn id="303" idx="0"/>
          </p:cNvCxnSpPr>
          <p:nvPr/>
        </p:nvCxnSpPr>
        <p:spPr>
          <a:xfrm>
            <a:off x="5671250" y="1638100"/>
            <a:ext cx="1153200" cy="58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6" name="Google Shape;306;p47"/>
          <p:cNvCxnSpPr>
            <a:stCxn id="302" idx="2"/>
            <a:endCxn id="303" idx="0"/>
          </p:cNvCxnSpPr>
          <p:nvPr/>
        </p:nvCxnSpPr>
        <p:spPr>
          <a:xfrm flipH="1">
            <a:off x="6824575" y="1638100"/>
            <a:ext cx="1155300" cy="58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" name="Google Shape;307;p47"/>
          <p:cNvCxnSpPr>
            <a:stCxn id="303" idx="2"/>
            <a:endCxn id="304" idx="0"/>
          </p:cNvCxnSpPr>
          <p:nvPr/>
        </p:nvCxnSpPr>
        <p:spPr>
          <a:xfrm>
            <a:off x="6824450" y="2920650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47"/>
          <p:cNvCxnSpPr>
            <a:stCxn id="304" idx="3"/>
            <a:endCxn id="302" idx="3"/>
          </p:cNvCxnSpPr>
          <p:nvPr/>
        </p:nvCxnSpPr>
        <p:spPr>
          <a:xfrm flipH="1" rot="10800000">
            <a:off x="7791200" y="1289300"/>
            <a:ext cx="1155300" cy="2307600"/>
          </a:xfrm>
          <a:prstGeom prst="curvedConnector3">
            <a:avLst>
              <a:gd fmla="val 104005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9" name="Google Shape;30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/>
        </p:nvSpPr>
        <p:spPr>
          <a:xfrm>
            <a:off x="4842975" y="1399550"/>
            <a:ext cx="2056800" cy="862500"/>
          </a:xfrm>
          <a:prstGeom prst="rect">
            <a:avLst/>
          </a:prstGeom>
          <a:solidFill>
            <a:schemeClr val="lt2"/>
          </a:solidFill>
          <a:ln cap="flat" cmpd="sng" w="16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50" lIns="78650" spcFirstLastPara="1" rIns="78650" wrap="square" tIns="7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 the CSV file consisting of the manually curated species names.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7170775" y="1395650"/>
            <a:ext cx="1959300" cy="862500"/>
          </a:xfrm>
          <a:prstGeom prst="rect">
            <a:avLst/>
          </a:prstGeom>
          <a:solidFill>
            <a:schemeClr val="lt2"/>
          </a:solidFill>
          <a:ln cap="flat" cmpd="sng" w="16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50" lIns="78650" spcFirstLastPara="1" rIns="78650" wrap="square" tIns="7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3 additional columns “chatgpt_name”, “taxon_id”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“reasoning” to the file for the species name matched by the prompt.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2438875" y="1399550"/>
            <a:ext cx="2056800" cy="862500"/>
          </a:xfrm>
          <a:prstGeom prst="rect">
            <a:avLst/>
          </a:prstGeom>
          <a:solidFill>
            <a:schemeClr val="lt2"/>
          </a:solidFill>
          <a:ln cap="flat" cmpd="sng" w="16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50" lIns="78650" spcFirstLastPara="1" rIns="78650" wrap="square" tIns="7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Write a script that can read and add columns to a csv file.</a:t>
            </a:r>
            <a:endParaRPr sz="1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17" name="Google Shape;317;p48"/>
          <p:cNvCxnSpPr>
            <a:stCxn id="316" idx="3"/>
            <a:endCxn id="314" idx="1"/>
          </p:cNvCxnSpPr>
          <p:nvPr/>
        </p:nvCxnSpPr>
        <p:spPr>
          <a:xfrm>
            <a:off x="4495675" y="1830800"/>
            <a:ext cx="347400" cy="0"/>
          </a:xfrm>
          <a:prstGeom prst="straightConnector1">
            <a:avLst/>
          </a:prstGeom>
          <a:noFill/>
          <a:ln cap="flat" cmpd="sng" w="16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48"/>
          <p:cNvCxnSpPr>
            <a:stCxn id="314" idx="3"/>
            <a:endCxn id="315" idx="1"/>
          </p:cNvCxnSpPr>
          <p:nvPr/>
        </p:nvCxnSpPr>
        <p:spPr>
          <a:xfrm flipH="1" rot="10800000">
            <a:off x="6899775" y="1826900"/>
            <a:ext cx="270900" cy="3900"/>
          </a:xfrm>
          <a:prstGeom prst="straightConnector1">
            <a:avLst/>
          </a:prstGeom>
          <a:noFill/>
          <a:ln cap="flat" cmpd="sng" w="163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48"/>
          <p:cNvSpPr txBox="1"/>
          <p:nvPr>
            <p:ph type="title"/>
          </p:nvPr>
        </p:nvSpPr>
        <p:spPr>
          <a:xfrm>
            <a:off x="0" y="1391150"/>
            <a:ext cx="3099000" cy="203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AND WRITING CSV FILES</a:t>
            </a:r>
            <a:endParaRPr/>
          </a:p>
        </p:txBody>
      </p:sp>
      <p:pic>
        <p:nvPicPr>
          <p:cNvPr id="320" name="Google Shape;320;p48" title="Screenshot 2025-11-19 at 12.53.58 AM.png"/>
          <p:cNvPicPr preferRelativeResize="0"/>
          <p:nvPr/>
        </p:nvPicPr>
        <p:blipFill rotWithShape="1">
          <a:blip r:embed="rId3">
            <a:alphaModFix/>
          </a:blip>
          <a:srcRect b="0" l="2705" r="28457" t="0"/>
          <a:stretch/>
        </p:blipFill>
        <p:spPr>
          <a:xfrm>
            <a:off x="2678850" y="2520800"/>
            <a:ext cx="6357724" cy="10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8" title="Screenshot 2025-11-19 at 12.53.58 AM.png"/>
          <p:cNvPicPr preferRelativeResize="0"/>
          <p:nvPr/>
        </p:nvPicPr>
        <p:blipFill rotWithShape="1">
          <a:blip r:embed="rId3">
            <a:alphaModFix/>
          </a:blip>
          <a:srcRect b="0" l="2487" r="0" t="0"/>
          <a:stretch/>
        </p:blipFill>
        <p:spPr>
          <a:xfrm>
            <a:off x="416900" y="4104300"/>
            <a:ext cx="8619674" cy="6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8"/>
          <p:cNvSpPr txBox="1"/>
          <p:nvPr/>
        </p:nvSpPr>
        <p:spPr>
          <a:xfrm>
            <a:off x="2678850" y="3576700"/>
            <a:ext cx="2737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Figure 1. mapped-BS_GS.csv file</a:t>
            </a:r>
            <a:endParaRPr sz="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48"/>
          <p:cNvSpPr txBox="1"/>
          <p:nvPr/>
        </p:nvSpPr>
        <p:spPr>
          <a:xfrm>
            <a:off x="416900" y="4841300"/>
            <a:ext cx="4999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Figure 2. mapped-BS_GS.csv file with 3 new columns “chatgpt_name”, taxon_id”, and “reasoning”</a:t>
            </a:r>
            <a:endParaRPr sz="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PROMPT DEVELOPMENT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311700" y="1152475"/>
            <a:ext cx="37671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b="1"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p49" title="Screenshot 2025-11-19 at 9.50.1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50" y="1152475"/>
            <a:ext cx="2994273" cy="387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 title="Screenshot 2025-11-19 at 9.51.42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00" y="1152475"/>
            <a:ext cx="3032076" cy="38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9"/>
          <p:cNvSpPr/>
          <p:nvPr/>
        </p:nvSpPr>
        <p:spPr>
          <a:xfrm>
            <a:off x="155700" y="1104775"/>
            <a:ext cx="4698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49"/>
          <p:cNvSpPr/>
          <p:nvPr/>
        </p:nvSpPr>
        <p:spPr>
          <a:xfrm flipH="1" rot="10800000">
            <a:off x="197375" y="1434750"/>
            <a:ext cx="504300" cy="225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5" name="Google Shape;335;p49"/>
          <p:cNvSpPr/>
          <p:nvPr/>
        </p:nvSpPr>
        <p:spPr>
          <a:xfrm>
            <a:off x="214625" y="1930700"/>
            <a:ext cx="8970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49"/>
          <p:cNvSpPr/>
          <p:nvPr/>
        </p:nvSpPr>
        <p:spPr>
          <a:xfrm>
            <a:off x="214625" y="2639000"/>
            <a:ext cx="1119600" cy="225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7" name="Google Shape;337;p49"/>
          <p:cNvSpPr/>
          <p:nvPr/>
        </p:nvSpPr>
        <p:spPr>
          <a:xfrm>
            <a:off x="390075" y="3243000"/>
            <a:ext cx="11196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49"/>
          <p:cNvSpPr/>
          <p:nvPr/>
        </p:nvSpPr>
        <p:spPr>
          <a:xfrm>
            <a:off x="3370450" y="1104775"/>
            <a:ext cx="6666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3321350" y="1720400"/>
            <a:ext cx="7575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49"/>
          <p:cNvSpPr/>
          <p:nvPr/>
        </p:nvSpPr>
        <p:spPr>
          <a:xfrm>
            <a:off x="3370450" y="2234100"/>
            <a:ext cx="469800" cy="173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49"/>
          <p:cNvSpPr/>
          <p:nvPr/>
        </p:nvSpPr>
        <p:spPr>
          <a:xfrm>
            <a:off x="3567250" y="3901250"/>
            <a:ext cx="1119600" cy="225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49"/>
          <p:cNvSpPr/>
          <p:nvPr/>
        </p:nvSpPr>
        <p:spPr>
          <a:xfrm>
            <a:off x="864425" y="3849050"/>
            <a:ext cx="1393800" cy="225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0" title="Screenshot 2025-11-24 at 11.47.0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9453"/>
            <a:ext cx="9144003" cy="246459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0"/>
          <p:cNvSpPr txBox="1"/>
          <p:nvPr>
            <p:ph type="title"/>
          </p:nvPr>
        </p:nvSpPr>
        <p:spPr>
          <a:xfrm>
            <a:off x="197375" y="471525"/>
            <a:ext cx="1933500" cy="6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350" name="Google Shape;350;p50"/>
          <p:cNvSpPr/>
          <p:nvPr/>
        </p:nvSpPr>
        <p:spPr>
          <a:xfrm>
            <a:off x="2668475" y="1444850"/>
            <a:ext cx="590700" cy="2181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6183900" y="1320250"/>
            <a:ext cx="590700" cy="2181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50"/>
          <p:cNvSpPr txBox="1"/>
          <p:nvPr/>
        </p:nvSpPr>
        <p:spPr>
          <a:xfrm>
            <a:off x="6774600" y="1500850"/>
            <a:ext cx="2203800" cy="227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3" name="Google Shape;353;p50"/>
          <p:cNvCxnSpPr>
            <a:stCxn id="350" idx="4"/>
            <a:endCxn id="354" idx="1"/>
          </p:cNvCxnSpPr>
          <p:nvPr/>
        </p:nvCxnSpPr>
        <p:spPr>
          <a:xfrm>
            <a:off x="2963825" y="3626450"/>
            <a:ext cx="1490100" cy="88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50"/>
          <p:cNvCxnSpPr>
            <a:stCxn id="351" idx="4"/>
            <a:endCxn id="354" idx="3"/>
          </p:cNvCxnSpPr>
          <p:nvPr/>
        </p:nvCxnSpPr>
        <p:spPr>
          <a:xfrm flipH="1">
            <a:off x="6253650" y="3501850"/>
            <a:ext cx="225600" cy="100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50"/>
          <p:cNvSpPr txBox="1"/>
          <p:nvPr/>
        </p:nvSpPr>
        <p:spPr>
          <a:xfrm>
            <a:off x="4453925" y="4189350"/>
            <a:ext cx="1799700" cy="64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Taxon IDs generated by the prompt do not match the curated entries.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7244100" y="4189350"/>
            <a:ext cx="1799700" cy="64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Reasoning does not validate results.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7" name="Google Shape;357;p50"/>
          <p:cNvCxnSpPr>
            <a:stCxn id="352" idx="2"/>
            <a:endCxn id="356" idx="0"/>
          </p:cNvCxnSpPr>
          <p:nvPr/>
        </p:nvCxnSpPr>
        <p:spPr>
          <a:xfrm>
            <a:off x="7876500" y="3772450"/>
            <a:ext cx="267600" cy="41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50"/>
          <p:cNvSpPr txBox="1"/>
          <p:nvPr/>
        </p:nvSpPr>
        <p:spPr>
          <a:xfrm>
            <a:off x="1733975" y="4266600"/>
            <a:ext cx="1799700" cy="75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Species names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generated by the prompt do match the some of the curated entries.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59" name="Google Shape;359;p50"/>
          <p:cNvCxnSpPr>
            <a:stCxn id="360" idx="2"/>
            <a:endCxn id="358" idx="0"/>
          </p:cNvCxnSpPr>
          <p:nvPr/>
        </p:nvCxnSpPr>
        <p:spPr>
          <a:xfrm flipH="1">
            <a:off x="2633875" y="3803950"/>
            <a:ext cx="2705100" cy="4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50"/>
          <p:cNvSpPr txBox="1"/>
          <p:nvPr/>
        </p:nvSpPr>
        <p:spPr>
          <a:xfrm>
            <a:off x="1378800" y="1500850"/>
            <a:ext cx="921600" cy="23031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62" name="Google Shape;362;p50"/>
          <p:cNvCxnSpPr>
            <a:stCxn id="361" idx="2"/>
            <a:endCxn id="358" idx="0"/>
          </p:cNvCxnSpPr>
          <p:nvPr/>
        </p:nvCxnSpPr>
        <p:spPr>
          <a:xfrm>
            <a:off x="1839600" y="3803950"/>
            <a:ext cx="794100" cy="4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50"/>
          <p:cNvSpPr txBox="1"/>
          <p:nvPr/>
        </p:nvSpPr>
        <p:spPr>
          <a:xfrm>
            <a:off x="4637425" y="1500850"/>
            <a:ext cx="1403100" cy="23031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3" name="Google Shape;363;p50"/>
          <p:cNvSpPr txBox="1"/>
          <p:nvPr>
            <p:ph idx="12" type="sldNum"/>
          </p:nvPr>
        </p:nvSpPr>
        <p:spPr>
          <a:xfrm>
            <a:off x="8495108" y="47133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type="title"/>
          </p:nvPr>
        </p:nvSpPr>
        <p:spPr>
          <a:xfrm>
            <a:off x="638663" y="918500"/>
            <a:ext cx="2293500" cy="10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67%</a:t>
            </a:r>
            <a:endParaRPr sz="5400">
              <a:solidFill>
                <a:schemeClr val="lt2"/>
              </a:solidFill>
            </a:endParaRPr>
          </a:p>
        </p:txBody>
      </p:sp>
      <p:sp>
        <p:nvSpPr>
          <p:cNvPr id="369" name="Google Shape;36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1"/>
          <p:cNvSpPr txBox="1"/>
          <p:nvPr>
            <p:ph type="title"/>
          </p:nvPr>
        </p:nvSpPr>
        <p:spPr>
          <a:xfrm>
            <a:off x="3585213" y="851750"/>
            <a:ext cx="18954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5%</a:t>
            </a:r>
            <a:endParaRPr sz="5400">
              <a:solidFill>
                <a:schemeClr val="lt2"/>
              </a:solidFill>
            </a:endParaRPr>
          </a:p>
        </p:txBody>
      </p:sp>
      <p:sp>
        <p:nvSpPr>
          <p:cNvPr id="371" name="Google Shape;371;p51"/>
          <p:cNvSpPr txBox="1"/>
          <p:nvPr/>
        </p:nvSpPr>
        <p:spPr>
          <a:xfrm>
            <a:off x="453563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Matched to the species name provided</a:t>
            </a:r>
            <a:endParaRPr sz="10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51"/>
          <p:cNvSpPr txBox="1"/>
          <p:nvPr/>
        </p:nvSpPr>
        <p:spPr>
          <a:xfrm>
            <a:off x="3309613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Matched to some other species name</a:t>
            </a:r>
            <a:endParaRPr sz="10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3" name="Google Shape;373;p51"/>
          <p:cNvSpPr txBox="1"/>
          <p:nvPr>
            <p:ph type="title"/>
          </p:nvPr>
        </p:nvSpPr>
        <p:spPr>
          <a:xfrm>
            <a:off x="6498538" y="851750"/>
            <a:ext cx="21543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28</a:t>
            </a:r>
            <a:r>
              <a:rPr lang="en" sz="5400">
                <a:solidFill>
                  <a:schemeClr val="lt2"/>
                </a:solidFill>
              </a:rPr>
              <a:t>%</a:t>
            </a:r>
            <a:endParaRPr sz="5400">
              <a:solidFill>
                <a:schemeClr val="lt2"/>
              </a:solidFill>
            </a:endParaRPr>
          </a:p>
        </p:txBody>
      </p:sp>
      <p:sp>
        <p:nvSpPr>
          <p:cNvPr id="374" name="Google Shape;374;p51"/>
          <p:cNvSpPr txBox="1"/>
          <p:nvPr/>
        </p:nvSpPr>
        <p:spPr>
          <a:xfrm>
            <a:off x="6243838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Matched to the manually curated species name</a:t>
            </a:r>
            <a:endParaRPr sz="10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51"/>
          <p:cNvSpPr txBox="1"/>
          <p:nvPr>
            <p:ph type="title"/>
          </p:nvPr>
        </p:nvSpPr>
        <p:spPr>
          <a:xfrm>
            <a:off x="3585213" y="2482050"/>
            <a:ext cx="18954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4</a:t>
            </a:r>
            <a:r>
              <a:rPr lang="en" sz="5400">
                <a:solidFill>
                  <a:schemeClr val="lt2"/>
                </a:solidFill>
              </a:rPr>
              <a:t>%</a:t>
            </a:r>
            <a:endParaRPr sz="5400">
              <a:solidFill>
                <a:schemeClr val="lt2"/>
              </a:solidFill>
            </a:endParaRPr>
          </a:p>
        </p:txBody>
      </p:sp>
      <p:sp>
        <p:nvSpPr>
          <p:cNvPr id="376" name="Google Shape;376;p51"/>
          <p:cNvSpPr txBox="1"/>
          <p:nvPr/>
        </p:nvSpPr>
        <p:spPr>
          <a:xfrm>
            <a:off x="3201075" y="3542400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Taxonomy IDs m</a:t>
            </a:r>
            <a:r>
              <a:rPr lang="en" sz="10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atched to manually curated data.</a:t>
            </a:r>
            <a:endParaRPr sz="10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2"/>
          <p:cNvSpPr txBox="1"/>
          <p:nvPr>
            <p:ph idx="4294967295" type="title"/>
          </p:nvPr>
        </p:nvSpPr>
        <p:spPr>
          <a:xfrm>
            <a:off x="197375" y="196450"/>
            <a:ext cx="51804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ADJUSTMENT</a:t>
            </a:r>
            <a:endParaRPr/>
          </a:p>
        </p:txBody>
      </p:sp>
      <p:sp>
        <p:nvSpPr>
          <p:cNvPr id="382" name="Google Shape;38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83" name="Google Shape;383;p52" title="Screenshot 2025-11-24 at 12.22.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0925"/>
            <a:ext cx="3898611" cy="428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2" title="Screenshot 2025-11-24 at 12.22.26 PM.png"/>
          <p:cNvPicPr preferRelativeResize="0"/>
          <p:nvPr/>
        </p:nvPicPr>
        <p:blipFill rotWithShape="1">
          <a:blip r:embed="rId3">
            <a:alphaModFix/>
          </a:blip>
          <a:srcRect b="61074" l="9962" r="10153" t="30743"/>
          <a:stretch/>
        </p:blipFill>
        <p:spPr>
          <a:xfrm>
            <a:off x="4168925" y="2001938"/>
            <a:ext cx="4614095" cy="5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2" title="Screenshot 2025-11-24 at 12.22.26 PM.png"/>
          <p:cNvPicPr preferRelativeResize="0"/>
          <p:nvPr/>
        </p:nvPicPr>
        <p:blipFill rotWithShape="1">
          <a:blip r:embed="rId3">
            <a:alphaModFix/>
          </a:blip>
          <a:srcRect b="38016" l="11405" r="14488" t="54386"/>
          <a:stretch/>
        </p:blipFill>
        <p:spPr>
          <a:xfrm>
            <a:off x="4171425" y="3046713"/>
            <a:ext cx="4609101" cy="5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2"/>
          <p:cNvSpPr/>
          <p:nvPr/>
        </p:nvSpPr>
        <p:spPr>
          <a:xfrm rot="-5400000">
            <a:off x="1851800" y="647400"/>
            <a:ext cx="549000" cy="3228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52"/>
          <p:cNvSpPr/>
          <p:nvPr/>
        </p:nvSpPr>
        <p:spPr>
          <a:xfrm rot="-5400000">
            <a:off x="1744300" y="1692175"/>
            <a:ext cx="450900" cy="3228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88" name="Google Shape;388;p52"/>
          <p:cNvCxnSpPr>
            <a:stCxn id="386" idx="4"/>
            <a:endCxn id="384" idx="1"/>
          </p:cNvCxnSpPr>
          <p:nvPr/>
        </p:nvCxnSpPr>
        <p:spPr>
          <a:xfrm>
            <a:off x="3740600" y="2261700"/>
            <a:ext cx="42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52"/>
          <p:cNvCxnSpPr>
            <a:stCxn id="387" idx="4"/>
            <a:endCxn id="385" idx="1"/>
          </p:cNvCxnSpPr>
          <p:nvPr/>
        </p:nvCxnSpPr>
        <p:spPr>
          <a:xfrm>
            <a:off x="3584050" y="3306475"/>
            <a:ext cx="587400" cy="0"/>
          </a:xfrm>
          <a:prstGeom prst="straightConnector1">
            <a:avLst/>
          </a:prstGeom>
          <a:noFill/>
          <a:ln cap="flat" cmpd="sng" w="9525">
            <a:solidFill>
              <a:srgbClr val="204C9E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/>
          <p:nvPr>
            <p:ph idx="4294967295" type="title"/>
          </p:nvPr>
        </p:nvSpPr>
        <p:spPr>
          <a:xfrm>
            <a:off x="71000" y="27025"/>
            <a:ext cx="52896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COMPARISON OF RESULTS</a:t>
            </a:r>
            <a:endParaRPr sz="2400"/>
          </a:p>
        </p:txBody>
      </p:sp>
      <p:pic>
        <p:nvPicPr>
          <p:cNvPr id="395" name="Google Shape;395;p53" title="Screenshot 2025-11-24 at 11.47.08 AM.png"/>
          <p:cNvPicPr preferRelativeResize="0"/>
          <p:nvPr/>
        </p:nvPicPr>
        <p:blipFill rotWithShape="1">
          <a:blip r:embed="rId3">
            <a:alphaModFix/>
          </a:blip>
          <a:srcRect b="0" l="50659" r="0" t="1652"/>
          <a:stretch/>
        </p:blipFill>
        <p:spPr>
          <a:xfrm>
            <a:off x="158650" y="504799"/>
            <a:ext cx="4135450" cy="218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3" title="Screenshot 2025-11-24 at 12.00.52 PM.png"/>
          <p:cNvPicPr preferRelativeResize="0"/>
          <p:nvPr/>
        </p:nvPicPr>
        <p:blipFill rotWithShape="1">
          <a:blip r:embed="rId4">
            <a:alphaModFix/>
          </a:blip>
          <a:srcRect b="0" l="52777" r="0" t="0"/>
          <a:stretch/>
        </p:blipFill>
        <p:spPr>
          <a:xfrm>
            <a:off x="4811175" y="504800"/>
            <a:ext cx="3957898" cy="21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3"/>
          <p:cNvSpPr/>
          <p:nvPr/>
        </p:nvSpPr>
        <p:spPr>
          <a:xfrm rot="-5400000">
            <a:off x="1786300" y="625625"/>
            <a:ext cx="289200" cy="513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53"/>
          <p:cNvSpPr/>
          <p:nvPr/>
        </p:nvSpPr>
        <p:spPr>
          <a:xfrm rot="-5400000">
            <a:off x="6378224" y="633525"/>
            <a:ext cx="333600" cy="570300"/>
          </a:xfrm>
          <a:prstGeom prst="ellipse">
            <a:avLst/>
          </a:prstGeom>
          <a:noFill/>
          <a:ln cap="flat" cmpd="sng" w="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53"/>
          <p:cNvSpPr/>
          <p:nvPr/>
        </p:nvSpPr>
        <p:spPr>
          <a:xfrm rot="-5400000">
            <a:off x="1711301" y="1992101"/>
            <a:ext cx="476400" cy="514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0" name="Google Shape;400;p53"/>
          <p:cNvSpPr/>
          <p:nvPr/>
        </p:nvSpPr>
        <p:spPr>
          <a:xfrm rot="-5400000">
            <a:off x="6348075" y="1899400"/>
            <a:ext cx="402600" cy="611400"/>
          </a:xfrm>
          <a:prstGeom prst="ellipse">
            <a:avLst/>
          </a:prstGeom>
          <a:noFill/>
          <a:ln cap="flat" cmpd="sng" w="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53"/>
          <p:cNvSpPr/>
          <p:nvPr/>
        </p:nvSpPr>
        <p:spPr>
          <a:xfrm rot="-5400000">
            <a:off x="1857550" y="2475550"/>
            <a:ext cx="158700" cy="351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2" name="Google Shape;402;p53"/>
          <p:cNvSpPr/>
          <p:nvPr/>
        </p:nvSpPr>
        <p:spPr>
          <a:xfrm rot="-5400000">
            <a:off x="6452625" y="2419599"/>
            <a:ext cx="130200" cy="391200"/>
          </a:xfrm>
          <a:prstGeom prst="ellipse">
            <a:avLst/>
          </a:prstGeom>
          <a:noFill/>
          <a:ln cap="flat" cmpd="sng" w="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53"/>
          <p:cNvSpPr/>
          <p:nvPr/>
        </p:nvSpPr>
        <p:spPr>
          <a:xfrm rot="-5400000">
            <a:off x="1858750" y="1336385"/>
            <a:ext cx="181500" cy="365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53"/>
          <p:cNvSpPr/>
          <p:nvPr/>
        </p:nvSpPr>
        <p:spPr>
          <a:xfrm rot="-5400000">
            <a:off x="6469125" y="1314774"/>
            <a:ext cx="172800" cy="432600"/>
          </a:xfrm>
          <a:prstGeom prst="ellipse">
            <a:avLst/>
          </a:prstGeom>
          <a:noFill/>
          <a:ln cap="flat" cmpd="sng" w="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3"/>
          <p:cNvSpPr txBox="1"/>
          <p:nvPr/>
        </p:nvSpPr>
        <p:spPr>
          <a:xfrm>
            <a:off x="158625" y="2699725"/>
            <a:ext cx="4135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Figure 2.1 ChatGPT results before prompt modification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53"/>
          <p:cNvSpPr txBox="1"/>
          <p:nvPr/>
        </p:nvSpPr>
        <p:spPr>
          <a:xfrm>
            <a:off x="4811175" y="2693775"/>
            <a:ext cx="4135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Figure 2.2 ChatGPT results after prompt modification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8" name="Google Shape;408;p53" title="Screenshot 2025-11-24 at 12.00.52 PM.png"/>
          <p:cNvPicPr preferRelativeResize="0"/>
          <p:nvPr/>
        </p:nvPicPr>
        <p:blipFill rotWithShape="1">
          <a:blip r:embed="rId4">
            <a:alphaModFix/>
          </a:blip>
          <a:srcRect b="1320" l="0" r="46947" t="-1320"/>
          <a:stretch/>
        </p:blipFill>
        <p:spPr>
          <a:xfrm>
            <a:off x="2542950" y="2928925"/>
            <a:ext cx="3716925" cy="194305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3"/>
          <p:cNvSpPr/>
          <p:nvPr/>
        </p:nvSpPr>
        <p:spPr>
          <a:xfrm rot="-5400000">
            <a:off x="4984046" y="3094103"/>
            <a:ext cx="258900" cy="465000"/>
          </a:xfrm>
          <a:prstGeom prst="ellipse">
            <a:avLst/>
          </a:prstGeom>
          <a:noFill/>
          <a:ln cap="flat" cmpd="sng" w="1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225" lIns="82225" spcFirstLastPara="1" rIns="82225" wrap="square" tIns="8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0" name="Google Shape;410;p53"/>
          <p:cNvSpPr/>
          <p:nvPr/>
        </p:nvSpPr>
        <p:spPr>
          <a:xfrm rot="-5400000">
            <a:off x="5002947" y="3657699"/>
            <a:ext cx="162300" cy="406200"/>
          </a:xfrm>
          <a:prstGeom prst="ellipse">
            <a:avLst/>
          </a:prstGeom>
          <a:noFill/>
          <a:ln cap="flat" cmpd="sng" w="1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225" lIns="82225" spcFirstLastPara="1" rIns="82225" wrap="square" tIns="8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53"/>
          <p:cNvSpPr/>
          <p:nvPr/>
        </p:nvSpPr>
        <p:spPr>
          <a:xfrm rot="-5400000">
            <a:off x="4924440" y="4167556"/>
            <a:ext cx="378000" cy="574200"/>
          </a:xfrm>
          <a:prstGeom prst="ellipse">
            <a:avLst/>
          </a:prstGeom>
          <a:noFill/>
          <a:ln cap="flat" cmpd="sng" w="1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225" lIns="82225" spcFirstLastPara="1" rIns="82225" wrap="square" tIns="8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53"/>
          <p:cNvSpPr/>
          <p:nvPr/>
        </p:nvSpPr>
        <p:spPr>
          <a:xfrm rot="-5400000">
            <a:off x="5046300" y="4638550"/>
            <a:ext cx="159600" cy="366000"/>
          </a:xfrm>
          <a:prstGeom prst="ellipse">
            <a:avLst/>
          </a:prstGeom>
          <a:noFill/>
          <a:ln cap="flat" cmpd="sng" w="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2504250" y="4885425"/>
            <a:ext cx="4135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Figure 2.3 Manually curated data results 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4"/>
          <p:cNvSpPr txBox="1"/>
          <p:nvPr>
            <p:ph type="title"/>
          </p:nvPr>
        </p:nvSpPr>
        <p:spPr>
          <a:xfrm>
            <a:off x="638663" y="918500"/>
            <a:ext cx="2293500" cy="10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33</a:t>
            </a:r>
            <a:r>
              <a:rPr lang="en" sz="5400"/>
              <a:t>%</a:t>
            </a:r>
            <a:endParaRPr sz="5400"/>
          </a:p>
        </p:txBody>
      </p:sp>
      <p:sp>
        <p:nvSpPr>
          <p:cNvPr id="419" name="Google Shape;41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54"/>
          <p:cNvSpPr txBox="1"/>
          <p:nvPr>
            <p:ph type="title"/>
          </p:nvPr>
        </p:nvSpPr>
        <p:spPr>
          <a:xfrm>
            <a:off x="3585213" y="851750"/>
            <a:ext cx="18954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2</a:t>
            </a:r>
            <a:r>
              <a:rPr lang="en" sz="5400"/>
              <a:t>%</a:t>
            </a:r>
            <a:endParaRPr sz="5400"/>
          </a:p>
        </p:txBody>
      </p:sp>
      <p:sp>
        <p:nvSpPr>
          <p:cNvPr id="421" name="Google Shape;421;p54"/>
          <p:cNvSpPr txBox="1"/>
          <p:nvPr/>
        </p:nvSpPr>
        <p:spPr>
          <a:xfrm>
            <a:off x="453563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Matched to the species name provided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54"/>
          <p:cNvSpPr txBox="1"/>
          <p:nvPr/>
        </p:nvSpPr>
        <p:spPr>
          <a:xfrm>
            <a:off x="3309613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Matched to some other species name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3" name="Google Shape;423;p54"/>
          <p:cNvSpPr txBox="1"/>
          <p:nvPr>
            <p:ph type="title"/>
          </p:nvPr>
        </p:nvSpPr>
        <p:spPr>
          <a:xfrm>
            <a:off x="6498538" y="851750"/>
            <a:ext cx="21543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26%</a:t>
            </a:r>
            <a:endParaRPr sz="5400"/>
          </a:p>
        </p:txBody>
      </p:sp>
      <p:sp>
        <p:nvSpPr>
          <p:cNvPr id="424" name="Google Shape;424;p54"/>
          <p:cNvSpPr txBox="1"/>
          <p:nvPr/>
        </p:nvSpPr>
        <p:spPr>
          <a:xfrm>
            <a:off x="6243838" y="1912125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Matched to the manually curated species name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54"/>
          <p:cNvSpPr txBox="1"/>
          <p:nvPr>
            <p:ph type="title"/>
          </p:nvPr>
        </p:nvSpPr>
        <p:spPr>
          <a:xfrm>
            <a:off x="1889788" y="2571750"/>
            <a:ext cx="18954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39</a:t>
            </a:r>
            <a:r>
              <a:rPr lang="en" sz="5400"/>
              <a:t>%</a:t>
            </a:r>
            <a:endParaRPr sz="5400"/>
          </a:p>
        </p:txBody>
      </p:sp>
      <p:sp>
        <p:nvSpPr>
          <p:cNvPr id="426" name="Google Shape;426;p54"/>
          <p:cNvSpPr txBox="1"/>
          <p:nvPr/>
        </p:nvSpPr>
        <p:spPr>
          <a:xfrm>
            <a:off x="1505650" y="3632100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match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at all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7" name="Google Shape;427;p54"/>
          <p:cNvSpPr txBox="1"/>
          <p:nvPr>
            <p:ph type="title"/>
          </p:nvPr>
        </p:nvSpPr>
        <p:spPr>
          <a:xfrm>
            <a:off x="5574163" y="2571750"/>
            <a:ext cx="1895400" cy="11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4</a:t>
            </a:r>
            <a:r>
              <a:rPr lang="en" sz="5400"/>
              <a:t>%</a:t>
            </a:r>
            <a:endParaRPr sz="5400"/>
          </a:p>
        </p:txBody>
      </p:sp>
      <p:sp>
        <p:nvSpPr>
          <p:cNvPr id="428" name="Google Shape;428;p54"/>
          <p:cNvSpPr txBox="1"/>
          <p:nvPr/>
        </p:nvSpPr>
        <p:spPr>
          <a:xfrm>
            <a:off x="5190025" y="3701050"/>
            <a:ext cx="266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Taxonomy IDs matched to manually curated data.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idx="1" type="subTitle"/>
          </p:nvPr>
        </p:nvSpPr>
        <p:spPr>
          <a:xfrm>
            <a:off x="197375" y="1964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Challenges: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34" name="Google Shape;434;p55"/>
          <p:cNvSpPr txBox="1"/>
          <p:nvPr/>
        </p:nvSpPr>
        <p:spPr>
          <a:xfrm>
            <a:off x="524400" y="1113025"/>
            <a:ext cx="7193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Taxonomy IDs found by OpenAI using the prompts do not match the manually curated entries</a:t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5" name="Google Shape;435;p55"/>
          <p:cNvSpPr txBox="1"/>
          <p:nvPr/>
        </p:nvSpPr>
        <p:spPr>
          <a:xfrm>
            <a:off x="524400" y="2140450"/>
            <a:ext cx="6866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JSON parsing wasn’t possible if reasoning was more than 10 words</a:t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55"/>
          <p:cNvSpPr txBox="1"/>
          <p:nvPr/>
        </p:nvSpPr>
        <p:spPr>
          <a:xfrm>
            <a:off x="524375" y="2921700"/>
            <a:ext cx="68664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Unable to troubleshoot prompt with provided reasoning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438" name="Google Shape;438;p55"/>
          <p:cNvSpPr txBox="1"/>
          <p:nvPr/>
        </p:nvSpPr>
        <p:spPr>
          <a:xfrm>
            <a:off x="524400" y="3892525"/>
            <a:ext cx="68664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I had no background in programming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>
            <p:ph idx="1" type="subTitle"/>
          </p:nvPr>
        </p:nvSpPr>
        <p:spPr>
          <a:xfrm>
            <a:off x="197375" y="1964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Future Directions</a:t>
            </a:r>
            <a:r>
              <a:rPr lang="en">
                <a:solidFill>
                  <a:schemeClr val="lt2"/>
                </a:solidFill>
              </a:rPr>
              <a:t>: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524400" y="1113025"/>
            <a:ext cx="7193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Develop a prompt that focuses solely on matching Taxonomy IDs.</a:t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5" name="Google Shape;445;p56"/>
          <p:cNvSpPr txBox="1"/>
          <p:nvPr/>
        </p:nvSpPr>
        <p:spPr>
          <a:xfrm>
            <a:off x="524400" y="2140450"/>
            <a:ext cx="68664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Integrate species name matching and taxonomy ID </a:t>
            </a: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matching</a:t>
            </a: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prompt to look for improved results</a:t>
            </a:r>
            <a:endParaRPr sz="16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6" name="Google Shape;446;p56"/>
          <p:cNvSpPr txBox="1"/>
          <p:nvPr/>
        </p:nvSpPr>
        <p:spPr>
          <a:xfrm>
            <a:off x="524375" y="2921700"/>
            <a:ext cx="68664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Expand to matching common names, publications and diseases.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/>
          <p:nvPr/>
        </p:nvSpPr>
        <p:spPr>
          <a:xfrm>
            <a:off x="5343465" y="1941265"/>
            <a:ext cx="876000" cy="1986000"/>
          </a:xfrm>
          <a:prstGeom prst="roundRect">
            <a:avLst>
              <a:gd fmla="val 7120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A4C2F4">
                <a:alpha val="40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3" name="Google Shape;453;p57"/>
          <p:cNvSpPr/>
          <p:nvPr/>
        </p:nvSpPr>
        <p:spPr>
          <a:xfrm>
            <a:off x="3035467" y="1941265"/>
            <a:ext cx="876000" cy="1986000"/>
          </a:xfrm>
          <a:prstGeom prst="roundRect">
            <a:avLst>
              <a:gd fmla="val 7120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A4C2F4">
                <a:alpha val="40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4" name="Google Shape;454;p57"/>
          <p:cNvSpPr/>
          <p:nvPr/>
        </p:nvSpPr>
        <p:spPr>
          <a:xfrm>
            <a:off x="4189669" y="1941265"/>
            <a:ext cx="875700" cy="1986000"/>
          </a:xfrm>
          <a:prstGeom prst="roundRect">
            <a:avLst>
              <a:gd fmla="val 6808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6FA8DC">
                <a:alpha val="65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5" name="Google Shape;455;p57"/>
          <p:cNvSpPr/>
          <p:nvPr/>
        </p:nvSpPr>
        <p:spPr>
          <a:xfrm>
            <a:off x="1864169" y="1941265"/>
            <a:ext cx="875700" cy="1986000"/>
          </a:xfrm>
          <a:prstGeom prst="roundRect">
            <a:avLst>
              <a:gd fmla="val 6808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6FA8DC">
                <a:alpha val="65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6" name="Google Shape;456;p57"/>
          <p:cNvSpPr/>
          <p:nvPr/>
        </p:nvSpPr>
        <p:spPr>
          <a:xfrm>
            <a:off x="684425" y="1941265"/>
            <a:ext cx="876000" cy="1986000"/>
          </a:xfrm>
          <a:prstGeom prst="roundRect">
            <a:avLst>
              <a:gd fmla="val 7120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A4C2F4">
                <a:alpha val="40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7" name="Google Shape;457;p57"/>
          <p:cNvSpPr txBox="1"/>
          <p:nvPr/>
        </p:nvSpPr>
        <p:spPr>
          <a:xfrm>
            <a:off x="684434" y="3007307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Raja Mazumder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8" name="Google Shape;458;p57"/>
          <p:cNvSpPr txBox="1"/>
          <p:nvPr/>
        </p:nvSpPr>
        <p:spPr>
          <a:xfrm>
            <a:off x="684434" y="3124402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George Washington University, Washington D.C.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1863970" y="3007307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Mike Tiemeyer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0" name="Google Shape;460;p57"/>
          <p:cNvSpPr txBox="1"/>
          <p:nvPr/>
        </p:nvSpPr>
        <p:spPr>
          <a:xfrm>
            <a:off x="1885492" y="3124402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University of Georgia,  Athens, GA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1" name="Google Shape;461;p57"/>
          <p:cNvSpPr txBox="1"/>
          <p:nvPr/>
        </p:nvSpPr>
        <p:spPr>
          <a:xfrm>
            <a:off x="3026820" y="3007307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Rene Ranzinger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2" name="Google Shape;462;p57"/>
          <p:cNvSpPr txBox="1"/>
          <p:nvPr/>
        </p:nvSpPr>
        <p:spPr>
          <a:xfrm>
            <a:off x="3037581" y="3124402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University of Georgia,  Athens, GA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3" name="Google Shape;463;p57"/>
          <p:cNvSpPr txBox="1"/>
          <p:nvPr/>
        </p:nvSpPr>
        <p:spPr>
          <a:xfrm>
            <a:off x="4210993" y="3007307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Sena Arpinar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4" name="Google Shape;464;p57"/>
          <p:cNvSpPr txBox="1"/>
          <p:nvPr/>
        </p:nvSpPr>
        <p:spPr>
          <a:xfrm>
            <a:off x="4210993" y="3124402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University of Georgia,  Athens, GA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5" name="Google Shape;465;p57"/>
          <p:cNvSpPr txBox="1"/>
          <p:nvPr/>
        </p:nvSpPr>
        <p:spPr>
          <a:xfrm>
            <a:off x="5343480" y="3007307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Urnisha Bhuiyan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6" name="Google Shape;466;p57"/>
          <p:cNvSpPr txBox="1"/>
          <p:nvPr/>
        </p:nvSpPr>
        <p:spPr>
          <a:xfrm>
            <a:off x="5343480" y="3124402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George Washington University, Washington D.C.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7" name="Google Shape;467;p57"/>
          <p:cNvSpPr txBox="1"/>
          <p:nvPr/>
        </p:nvSpPr>
        <p:spPr>
          <a:xfrm>
            <a:off x="576900" y="306775"/>
            <a:ext cx="628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ACKNOWLEDGMENTS</a:t>
            </a:r>
            <a:r>
              <a:rPr lang="en" sz="20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200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68" name="Google Shape;46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636" y="1891200"/>
            <a:ext cx="875764" cy="925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3965" y="1891200"/>
            <a:ext cx="876172" cy="925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6719" y="1919097"/>
            <a:ext cx="884925" cy="89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9677" y="1941265"/>
            <a:ext cx="875761" cy="87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3472" y="1941049"/>
            <a:ext cx="876169" cy="8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7"/>
          <p:cNvSpPr txBox="1"/>
          <p:nvPr/>
        </p:nvSpPr>
        <p:spPr>
          <a:xfrm>
            <a:off x="3782525" y="157525"/>
            <a:ext cx="49413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GlyGen is supported and funded by:</a:t>
            </a:r>
            <a:endParaRPr b="1" sz="13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 The National Institute of General Medical Sciences under the grant # 1R24GM146616 - 01</a:t>
            </a:r>
            <a:endParaRPr b="1" sz="13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 The National Institutes of Health Office of Strategic Coordination - The Common Fund under the grant # 1OT2OD032092.</a:t>
            </a:r>
            <a:endParaRPr b="1" sz="13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4" name="Google Shape;474;p57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‹#›</a:t>
            </a:fld>
            <a:endParaRPr sz="1300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75" name="Google Shape;475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900" y="835725"/>
            <a:ext cx="251467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7"/>
          <p:cNvSpPr/>
          <p:nvPr/>
        </p:nvSpPr>
        <p:spPr>
          <a:xfrm>
            <a:off x="6463322" y="1952346"/>
            <a:ext cx="876000" cy="1986000"/>
          </a:xfrm>
          <a:prstGeom prst="roundRect">
            <a:avLst>
              <a:gd fmla="val 7120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A4C2F4">
                <a:alpha val="40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8" name="Google Shape;478;p57"/>
          <p:cNvSpPr txBox="1"/>
          <p:nvPr/>
        </p:nvSpPr>
        <p:spPr>
          <a:xfrm>
            <a:off x="6454675" y="3018389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Sujeet Kulkarni 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9" name="Google Shape;479;p57"/>
          <p:cNvSpPr txBox="1"/>
          <p:nvPr/>
        </p:nvSpPr>
        <p:spPr>
          <a:xfrm>
            <a:off x="6465436" y="3135484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2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University of Georgia,  Athens, GA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80" name="Google Shape;480;p57" title="Screenshot 2025-11-26 at 2.36.10 PM.png"/>
          <p:cNvPicPr preferRelativeResize="0"/>
          <p:nvPr/>
        </p:nvPicPr>
        <p:blipFill rotWithShape="1">
          <a:blip r:embed="rId9">
            <a:alphaModFix/>
          </a:blip>
          <a:srcRect b="0" l="5901" r="5892" t="0"/>
          <a:stretch/>
        </p:blipFill>
        <p:spPr>
          <a:xfrm>
            <a:off x="6454575" y="1930179"/>
            <a:ext cx="884926" cy="897641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7"/>
          <p:cNvSpPr/>
          <p:nvPr/>
        </p:nvSpPr>
        <p:spPr>
          <a:xfrm>
            <a:off x="7701023" y="1941268"/>
            <a:ext cx="876000" cy="1986000"/>
          </a:xfrm>
          <a:prstGeom prst="roundRect">
            <a:avLst>
              <a:gd fmla="val 7120" name="adj"/>
            </a:avLst>
          </a:prstGeom>
          <a:solidFill>
            <a:srgbClr val="204C9E"/>
          </a:solidFill>
          <a:ln>
            <a:noFill/>
          </a:ln>
          <a:effectLst>
            <a:outerShdw blurRad="116585" rotWithShape="0" algn="bl" dir="5400000" dist="12954">
              <a:srgbClr val="A4C2F4">
                <a:alpha val="40000"/>
              </a:srgbClr>
            </a:outerShdw>
          </a:effectLst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2">
              <a:solidFill>
                <a:srgbClr val="204C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2" name="Google Shape;482;p57"/>
          <p:cNvSpPr txBox="1"/>
          <p:nvPr/>
        </p:nvSpPr>
        <p:spPr>
          <a:xfrm>
            <a:off x="7692376" y="3007302"/>
            <a:ext cx="833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Kate</a:t>
            </a:r>
            <a:r>
              <a:rPr lang="en" sz="68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 Warner</a:t>
            </a:r>
            <a:endParaRPr sz="680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3" name="Google Shape;483;p57"/>
          <p:cNvSpPr txBox="1"/>
          <p:nvPr/>
        </p:nvSpPr>
        <p:spPr>
          <a:xfrm>
            <a:off x="7703137" y="3124396"/>
            <a:ext cx="8331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150" lIns="0" spcFirstLastPara="1" rIns="62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612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George Washington University, Washington D.C.</a:t>
            </a:r>
            <a:endParaRPr sz="612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84" name="Google Shape;484;p57" title="Screenshot 2025-11-26 at 2.37.01 PM.png"/>
          <p:cNvPicPr preferRelativeResize="0"/>
          <p:nvPr/>
        </p:nvPicPr>
        <p:blipFill rotWithShape="1">
          <a:blip r:embed="rId10">
            <a:alphaModFix/>
          </a:blip>
          <a:srcRect b="787" l="0" r="0" t="797"/>
          <a:stretch/>
        </p:blipFill>
        <p:spPr>
          <a:xfrm>
            <a:off x="7692276" y="1919100"/>
            <a:ext cx="884925" cy="897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